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63" r:id="rId5"/>
    <p:sldId id="285" r:id="rId6"/>
    <p:sldId id="264" r:id="rId7"/>
    <p:sldId id="265" r:id="rId8"/>
    <p:sldId id="266" r:id="rId9"/>
    <p:sldId id="267" r:id="rId10"/>
    <p:sldId id="284" r:id="rId11"/>
    <p:sldId id="268" r:id="rId12"/>
    <p:sldId id="269" r:id="rId13"/>
    <p:sldId id="270" r:id="rId14"/>
    <p:sldId id="271" r:id="rId15"/>
    <p:sldId id="272" r:id="rId16"/>
    <p:sldId id="273" r:id="rId17"/>
    <p:sldId id="274" r:id="rId18"/>
    <p:sldId id="275" r:id="rId19"/>
    <p:sldId id="276" r:id="rId20"/>
    <p:sldId id="287" r:id="rId21"/>
    <p:sldId id="277" r:id="rId22"/>
    <p:sldId id="278" r:id="rId23"/>
    <p:sldId id="279" r:id="rId24"/>
    <p:sldId id="280" r:id="rId25"/>
    <p:sldId id="281" r:id="rId26"/>
    <p:sldId id="286"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6" d="100"/>
          <a:sy n="56" d="100"/>
        </p:scale>
        <p:origin x="12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CCF25B-EE15-4CF6-AC1B-2E8E397076FA}" type="datetimeFigureOut">
              <a:rPr lang="en-GB" smtClean="0"/>
              <a:t>27/05/2026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C2DEDE-296A-4C34-A824-01ED55D8B609}" type="slidenum">
              <a:rPr lang="en-GB" smtClean="0"/>
              <a:t>‹#›</a:t>
            </a:fld>
            <a:endParaRPr lang="en-GB"/>
          </a:p>
        </p:txBody>
      </p:sp>
    </p:spTree>
    <p:extLst>
      <p:ext uri="{BB962C8B-B14F-4D97-AF65-F5344CB8AC3E}">
        <p14:creationId xmlns:p14="http://schemas.microsoft.com/office/powerpoint/2010/main" val="898199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Heatmap uncovered scattered but recurring pattern of missing values in passenger count, fare amount, and trip duration across records</a:t>
            </a:r>
          </a:p>
          <a:p>
            <a:pPr marL="171450" indent="-171450">
              <a:buFont typeface="Arial" panose="020B0604020202020204" pitchFamily="34" charset="0"/>
              <a:buChar char="•"/>
            </a:pPr>
            <a:r>
              <a:rPr lang="en-GB" dirty="0"/>
              <a:t>Unnamed Column 10 completely missing throughout the dataset</a:t>
            </a:r>
          </a:p>
          <a:p>
            <a:pPr marL="171450" indent="-171450">
              <a:buFont typeface="Arial" panose="020B0604020202020204" pitchFamily="34" charset="0"/>
              <a:buChar char="•"/>
            </a:pPr>
            <a:r>
              <a:rPr lang="en-GB" dirty="0"/>
              <a:t>Unnamed column 11 almost entirely missing throughout the dataset</a:t>
            </a:r>
          </a:p>
        </p:txBody>
      </p:sp>
      <p:sp>
        <p:nvSpPr>
          <p:cNvPr id="4" name="Slide Number Placeholder 3"/>
          <p:cNvSpPr>
            <a:spLocks noGrp="1"/>
          </p:cNvSpPr>
          <p:nvPr>
            <p:ph type="sldNum" sz="quarter" idx="5"/>
          </p:nvPr>
        </p:nvSpPr>
        <p:spPr/>
        <p:txBody>
          <a:bodyPr/>
          <a:lstStyle/>
          <a:p>
            <a:fld id="{A4C2DEDE-296A-4C34-A824-01ED55D8B609}" type="slidenum">
              <a:rPr lang="en-GB" smtClean="0"/>
              <a:t>8</a:t>
            </a:fld>
            <a:endParaRPr lang="en-GB"/>
          </a:p>
        </p:txBody>
      </p:sp>
    </p:spTree>
    <p:extLst>
      <p:ext uri="{BB962C8B-B14F-4D97-AF65-F5344CB8AC3E}">
        <p14:creationId xmlns:p14="http://schemas.microsoft.com/office/powerpoint/2010/main" val="811569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Missing values successfully filled</a:t>
            </a:r>
          </a:p>
          <a:p>
            <a:pPr marL="171450" indent="-171450">
              <a:buFont typeface="Arial" panose="020B0604020202020204" pitchFamily="34" charset="0"/>
              <a:buChar char="•"/>
            </a:pPr>
            <a:r>
              <a:rPr lang="en-GB" dirty="0"/>
              <a:t>Redundant columns dropped</a:t>
            </a:r>
          </a:p>
        </p:txBody>
      </p:sp>
      <p:sp>
        <p:nvSpPr>
          <p:cNvPr id="4" name="Slide Number Placeholder 3"/>
          <p:cNvSpPr>
            <a:spLocks noGrp="1"/>
          </p:cNvSpPr>
          <p:nvPr>
            <p:ph type="sldNum" sz="quarter" idx="5"/>
          </p:nvPr>
        </p:nvSpPr>
        <p:spPr/>
        <p:txBody>
          <a:bodyPr/>
          <a:lstStyle/>
          <a:p>
            <a:fld id="{A4C2DEDE-296A-4C34-A824-01ED55D8B609}" type="slidenum">
              <a:rPr lang="en-GB" smtClean="0"/>
              <a:t>9</a:t>
            </a:fld>
            <a:endParaRPr lang="en-GB"/>
          </a:p>
        </p:txBody>
      </p:sp>
    </p:spTree>
    <p:extLst>
      <p:ext uri="{BB962C8B-B14F-4D97-AF65-F5344CB8AC3E}">
        <p14:creationId xmlns:p14="http://schemas.microsoft.com/office/powerpoint/2010/main" val="2578297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Times New Roman" panose="02020603050405020304" pitchFamily="18" charset="0"/>
                <a:ea typeface="+mn-ea"/>
                <a:cs typeface="Times New Roman" panose="02020603050405020304" pitchFamily="18" charset="0"/>
              </a:rPr>
              <a:t>Insights</a:t>
            </a:r>
            <a:r>
              <a:rPr lang="en-GB" sz="1200" b="0" i="0" kern="1200" dirty="0">
                <a:solidFill>
                  <a:schemeClr val="tx1"/>
                </a:solidFill>
                <a:effectLst/>
                <a:latin typeface="Times New Roman" panose="02020603050405020304" pitchFamily="18" charset="0"/>
                <a:ea typeface="+mn-ea"/>
                <a:cs typeface="Times New Roman" panose="02020603050405020304" pitchFamily="18" charset="0"/>
              </a:rPr>
              <a:t>: Passenger counts are fairly distributed across a wide range, with most trips carrying a moderate to high number of passengers</a:t>
            </a:r>
          </a:p>
        </p:txBody>
      </p:sp>
      <p:sp>
        <p:nvSpPr>
          <p:cNvPr id="4" name="Slide Number Placeholder 3"/>
          <p:cNvSpPr>
            <a:spLocks noGrp="1"/>
          </p:cNvSpPr>
          <p:nvPr>
            <p:ph type="sldNum" sz="quarter" idx="5"/>
          </p:nvPr>
        </p:nvSpPr>
        <p:spPr/>
        <p:txBody>
          <a:bodyPr/>
          <a:lstStyle/>
          <a:p>
            <a:fld id="{A4C2DEDE-296A-4C34-A824-01ED55D8B609}" type="slidenum">
              <a:rPr lang="en-GB" smtClean="0"/>
              <a:t>11</a:t>
            </a:fld>
            <a:endParaRPr lang="en-GB"/>
          </a:p>
        </p:txBody>
      </p:sp>
    </p:spTree>
    <p:extLst>
      <p:ext uri="{BB962C8B-B14F-4D97-AF65-F5344CB8AC3E}">
        <p14:creationId xmlns:p14="http://schemas.microsoft.com/office/powerpoint/2010/main" val="4213371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Times New Roman" panose="02020603050405020304" pitchFamily="18" charset="0"/>
                <a:cs typeface="Times New Roman" panose="02020603050405020304" pitchFamily="18" charset="0"/>
              </a:rPr>
              <a:t>Insight</a:t>
            </a:r>
            <a:r>
              <a:rPr lang="en-GB" dirty="0">
                <a:latin typeface="Times New Roman" panose="02020603050405020304" pitchFamily="18" charset="0"/>
                <a:cs typeface="Times New Roman" panose="02020603050405020304" pitchFamily="18" charset="0"/>
              </a:rPr>
              <a:t>: Demand is lowest on Thursday but peaks sharply on Sunday, indicating a strong weekend usage pattern likely driven by leisure travel</a:t>
            </a:r>
          </a:p>
        </p:txBody>
      </p:sp>
      <p:sp>
        <p:nvSpPr>
          <p:cNvPr id="4" name="Slide Number Placeholder 3"/>
          <p:cNvSpPr>
            <a:spLocks noGrp="1"/>
          </p:cNvSpPr>
          <p:nvPr>
            <p:ph type="sldNum" sz="quarter" idx="5"/>
          </p:nvPr>
        </p:nvSpPr>
        <p:spPr/>
        <p:txBody>
          <a:bodyPr/>
          <a:lstStyle/>
          <a:p>
            <a:fld id="{A4C2DEDE-296A-4C34-A824-01ED55D8B609}" type="slidenum">
              <a:rPr lang="en-GB" smtClean="0"/>
              <a:t>12</a:t>
            </a:fld>
            <a:endParaRPr lang="en-GB"/>
          </a:p>
        </p:txBody>
      </p:sp>
    </p:spTree>
    <p:extLst>
      <p:ext uri="{BB962C8B-B14F-4D97-AF65-F5344CB8AC3E}">
        <p14:creationId xmlns:p14="http://schemas.microsoft.com/office/powerpoint/2010/main" val="306710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Times New Roman" panose="02020603050405020304" pitchFamily="18" charset="0"/>
                <a:cs typeface="Times New Roman" panose="02020603050405020304" pitchFamily="18" charset="0"/>
              </a:rPr>
              <a:t>Insight</a:t>
            </a:r>
            <a:r>
              <a:rPr lang="en-GB" dirty="0">
                <a:latin typeface="Times New Roman" panose="02020603050405020304" pitchFamily="18" charset="0"/>
                <a:cs typeface="Times New Roman" panose="02020603050405020304" pitchFamily="18" charset="0"/>
              </a:rPr>
              <a:t>: Bus is the most preferred mode of transport, with trams significantly underutilized compared to other options</a:t>
            </a:r>
          </a:p>
        </p:txBody>
      </p:sp>
      <p:sp>
        <p:nvSpPr>
          <p:cNvPr id="4" name="Slide Number Placeholder 3"/>
          <p:cNvSpPr>
            <a:spLocks noGrp="1"/>
          </p:cNvSpPr>
          <p:nvPr>
            <p:ph type="sldNum" sz="quarter" idx="5"/>
          </p:nvPr>
        </p:nvSpPr>
        <p:spPr/>
        <p:txBody>
          <a:bodyPr/>
          <a:lstStyle/>
          <a:p>
            <a:fld id="{A4C2DEDE-296A-4C34-A824-01ED55D8B609}" type="slidenum">
              <a:rPr lang="en-GB" smtClean="0"/>
              <a:t>13</a:t>
            </a:fld>
            <a:endParaRPr lang="en-GB"/>
          </a:p>
        </p:txBody>
      </p:sp>
    </p:spTree>
    <p:extLst>
      <p:ext uri="{BB962C8B-B14F-4D97-AF65-F5344CB8AC3E}">
        <p14:creationId xmlns:p14="http://schemas.microsoft.com/office/powerpoint/2010/main" val="279729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Times New Roman" panose="02020603050405020304" pitchFamily="18" charset="0"/>
                <a:cs typeface="Times New Roman" panose="02020603050405020304" pitchFamily="18" charset="0"/>
              </a:rPr>
              <a:t>Insight</a:t>
            </a:r>
            <a:r>
              <a:rPr lang="en-GB" b="0" dirty="0">
                <a:latin typeface="Times New Roman" panose="02020603050405020304" pitchFamily="18" charset="0"/>
                <a:cs typeface="Times New Roman" panose="02020603050405020304" pitchFamily="18" charset="0"/>
              </a:rPr>
              <a:t>: Trips are concentrated at Central station and then steadily decline across the other stations, with South Point having the fewest departures</a:t>
            </a:r>
          </a:p>
        </p:txBody>
      </p:sp>
      <p:sp>
        <p:nvSpPr>
          <p:cNvPr id="4" name="Slide Number Placeholder 3"/>
          <p:cNvSpPr>
            <a:spLocks noGrp="1"/>
          </p:cNvSpPr>
          <p:nvPr>
            <p:ph type="sldNum" sz="quarter" idx="5"/>
          </p:nvPr>
        </p:nvSpPr>
        <p:spPr/>
        <p:txBody>
          <a:bodyPr/>
          <a:lstStyle/>
          <a:p>
            <a:fld id="{A4C2DEDE-296A-4C34-A824-01ED55D8B609}" type="slidenum">
              <a:rPr lang="en-GB" smtClean="0"/>
              <a:t>14</a:t>
            </a:fld>
            <a:endParaRPr lang="en-GB"/>
          </a:p>
        </p:txBody>
      </p:sp>
    </p:spTree>
    <p:extLst>
      <p:ext uri="{BB962C8B-B14F-4D97-AF65-F5344CB8AC3E}">
        <p14:creationId xmlns:p14="http://schemas.microsoft.com/office/powerpoint/2010/main" val="163567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Times New Roman" panose="02020603050405020304" pitchFamily="18" charset="0"/>
                <a:cs typeface="Times New Roman" panose="02020603050405020304" pitchFamily="18" charset="0"/>
              </a:rPr>
              <a:t>Insight</a:t>
            </a:r>
            <a:r>
              <a:rPr lang="en-GB" dirty="0">
                <a:latin typeface="Times New Roman" panose="02020603050405020304" pitchFamily="18" charset="0"/>
                <a:cs typeface="Times New Roman" panose="02020603050405020304" pitchFamily="18" charset="0"/>
              </a:rPr>
              <a:t>: Central station handles the highest passenger volume and generates the most fare revenue, while South Point has the lowest activity across both metrics</a:t>
            </a:r>
          </a:p>
        </p:txBody>
      </p:sp>
      <p:sp>
        <p:nvSpPr>
          <p:cNvPr id="4" name="Slide Number Placeholder 3"/>
          <p:cNvSpPr>
            <a:spLocks noGrp="1"/>
          </p:cNvSpPr>
          <p:nvPr>
            <p:ph type="sldNum" sz="quarter" idx="5"/>
          </p:nvPr>
        </p:nvSpPr>
        <p:spPr/>
        <p:txBody>
          <a:bodyPr/>
          <a:lstStyle/>
          <a:p>
            <a:fld id="{A4C2DEDE-296A-4C34-A824-01ED55D8B609}" type="slidenum">
              <a:rPr lang="en-GB" smtClean="0"/>
              <a:t>15</a:t>
            </a:fld>
            <a:endParaRPr lang="en-GB"/>
          </a:p>
        </p:txBody>
      </p:sp>
    </p:spTree>
    <p:extLst>
      <p:ext uri="{BB962C8B-B14F-4D97-AF65-F5344CB8AC3E}">
        <p14:creationId xmlns:p14="http://schemas.microsoft.com/office/powerpoint/2010/main" val="40949136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Insight</a:t>
            </a:r>
            <a:r>
              <a:rPr lang="en-GB" sz="1200" b="0" i="0" kern="1200" dirty="0">
                <a:solidFill>
                  <a:schemeClr val="tx1"/>
                </a:solidFill>
                <a:effectLst/>
                <a:latin typeface="+mn-lt"/>
                <a:ea typeface="+mn-ea"/>
                <a:cs typeface="+mn-cs"/>
              </a:rPr>
              <a:t>: In comparison to typical transport capacity standards, buses align reasonably with expected usage, whereas trams, trains, and ferries show clear underutilization, highlighting opportunities to optimize service planning and demand alignment in the other modes of transport</a:t>
            </a:r>
            <a:endParaRPr lang="en-GB" dirty="0"/>
          </a:p>
        </p:txBody>
      </p:sp>
      <p:sp>
        <p:nvSpPr>
          <p:cNvPr id="4" name="Slide Number Placeholder 3"/>
          <p:cNvSpPr>
            <a:spLocks noGrp="1"/>
          </p:cNvSpPr>
          <p:nvPr>
            <p:ph type="sldNum" sz="quarter" idx="5"/>
          </p:nvPr>
        </p:nvSpPr>
        <p:spPr/>
        <p:txBody>
          <a:bodyPr/>
          <a:lstStyle/>
          <a:p>
            <a:fld id="{A4C2DEDE-296A-4C34-A824-01ED55D8B609}" type="slidenum">
              <a:rPr lang="en-GB" smtClean="0"/>
              <a:t>16</a:t>
            </a:fld>
            <a:endParaRPr lang="en-GB"/>
          </a:p>
        </p:txBody>
      </p:sp>
    </p:spTree>
    <p:extLst>
      <p:ext uri="{BB962C8B-B14F-4D97-AF65-F5344CB8AC3E}">
        <p14:creationId xmlns:p14="http://schemas.microsoft.com/office/powerpoint/2010/main" val="1474311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Insight</a:t>
            </a:r>
            <a:r>
              <a:rPr lang="en-GB" dirty="0">
                <a:latin typeface="Times New Roman" panose="02020603050405020304" pitchFamily="18" charset="0"/>
                <a:cs typeface="Times New Roman" panose="02020603050405020304" pitchFamily="18" charset="0"/>
              </a:rPr>
              <a:t>: Compared to expected performance, where trains should generally be fastest, there were inconsistencies such that on several routes, slower modes like buses or ferries match or outperform trains—indicating potential inefficiencies in train operations or route design</a:t>
            </a:r>
          </a:p>
          <a:p>
            <a:pPr marL="171450" indent="-1714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E.g. Central → Airport by train (116 mins) is slower than bus (95 mins) and even tram (86 mins)</a:t>
            </a:r>
          </a:p>
          <a:p>
            <a:pPr marL="171450" indent="-1714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Central → Central by train (104 mins) is slower than ferry (59 mins)</a:t>
            </a:r>
          </a:p>
        </p:txBody>
      </p:sp>
      <p:sp>
        <p:nvSpPr>
          <p:cNvPr id="4" name="Slide Number Placeholder 3"/>
          <p:cNvSpPr>
            <a:spLocks noGrp="1"/>
          </p:cNvSpPr>
          <p:nvPr>
            <p:ph type="sldNum" sz="quarter" idx="5"/>
          </p:nvPr>
        </p:nvSpPr>
        <p:spPr/>
        <p:txBody>
          <a:bodyPr/>
          <a:lstStyle/>
          <a:p>
            <a:fld id="{A4C2DEDE-296A-4C34-A824-01ED55D8B609}" type="slidenum">
              <a:rPr lang="en-GB" smtClean="0"/>
              <a:t>17</a:t>
            </a:fld>
            <a:endParaRPr lang="en-GB"/>
          </a:p>
        </p:txBody>
      </p:sp>
    </p:spTree>
    <p:extLst>
      <p:ext uri="{BB962C8B-B14F-4D97-AF65-F5344CB8AC3E}">
        <p14:creationId xmlns:p14="http://schemas.microsoft.com/office/powerpoint/2010/main" val="2955857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Insights</a:t>
            </a:r>
            <a:r>
              <a:rPr lang="en-GB" dirty="0">
                <a:latin typeface="Times New Roman" panose="02020603050405020304" pitchFamily="18" charset="0"/>
                <a:cs typeface="Times New Roman" panose="02020603050405020304" pitchFamily="18" charset="0"/>
              </a:rPr>
              <a:t>: Peak demand is concentrated on buses in the afternoon/evening and ferries in the early morning, while trams are underutilized across all hours</a:t>
            </a:r>
          </a:p>
          <a:p>
            <a:pPr marL="171450" indent="-1714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Demand peaks are clearly time- and mode-specific</a:t>
            </a:r>
          </a:p>
          <a:p>
            <a:pPr marL="171450" indent="-1714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Buses peak in the late afternoon and evening (5 - 9 PM), ferries peak in the morning (8 AM), trains peak around early morning and early afternoon (7 AM and 2 PM), while trams utilization consistently declines with a modest peak at 7 AM</a:t>
            </a:r>
          </a:p>
        </p:txBody>
      </p:sp>
      <p:sp>
        <p:nvSpPr>
          <p:cNvPr id="4" name="Slide Number Placeholder 3"/>
          <p:cNvSpPr>
            <a:spLocks noGrp="1"/>
          </p:cNvSpPr>
          <p:nvPr>
            <p:ph type="sldNum" sz="quarter" idx="5"/>
          </p:nvPr>
        </p:nvSpPr>
        <p:spPr/>
        <p:txBody>
          <a:bodyPr/>
          <a:lstStyle/>
          <a:p>
            <a:fld id="{A4C2DEDE-296A-4C34-A824-01ED55D8B609}" type="slidenum">
              <a:rPr lang="en-GB" smtClean="0"/>
              <a:t>18</a:t>
            </a:fld>
            <a:endParaRPr lang="en-GB"/>
          </a:p>
        </p:txBody>
      </p:sp>
    </p:spTree>
    <p:extLst>
      <p:ext uri="{BB962C8B-B14F-4D97-AF65-F5344CB8AC3E}">
        <p14:creationId xmlns:p14="http://schemas.microsoft.com/office/powerpoint/2010/main" val="3759906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Times New Roman" panose="02020603050405020304" pitchFamily="18" charset="0"/>
                <a:cs typeface="Times New Roman" panose="02020603050405020304" pitchFamily="18" charset="0"/>
              </a:rPr>
              <a:t>Insight</a:t>
            </a:r>
            <a:r>
              <a:rPr lang="en-GB" dirty="0">
                <a:latin typeface="Times New Roman" panose="02020603050405020304" pitchFamily="18" charset="0"/>
                <a:cs typeface="Times New Roman" panose="02020603050405020304" pitchFamily="18" charset="0"/>
              </a:rPr>
              <a:t>: Even though demand is lowest on Thursday, the highest revenue was generated on Thursday suggesting that fare patterns are being driven more by factors other than sheer demand</a:t>
            </a:r>
          </a:p>
        </p:txBody>
      </p:sp>
      <p:sp>
        <p:nvSpPr>
          <p:cNvPr id="4" name="Slide Number Placeholder 3"/>
          <p:cNvSpPr>
            <a:spLocks noGrp="1"/>
          </p:cNvSpPr>
          <p:nvPr>
            <p:ph type="sldNum" sz="quarter" idx="5"/>
          </p:nvPr>
        </p:nvSpPr>
        <p:spPr/>
        <p:txBody>
          <a:bodyPr/>
          <a:lstStyle/>
          <a:p>
            <a:fld id="{A4C2DEDE-296A-4C34-A824-01ED55D8B609}" type="slidenum">
              <a:rPr lang="en-GB" smtClean="0"/>
              <a:t>19</a:t>
            </a:fld>
            <a:endParaRPr lang="en-GB"/>
          </a:p>
        </p:txBody>
      </p:sp>
    </p:spTree>
    <p:extLst>
      <p:ext uri="{BB962C8B-B14F-4D97-AF65-F5344CB8AC3E}">
        <p14:creationId xmlns:p14="http://schemas.microsoft.com/office/powerpoint/2010/main" val="1390135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Insight: </a:t>
            </a:r>
            <a:r>
              <a:rPr lang="en-GB" b="0" dirty="0"/>
              <a:t>No relationship exist between fare amount and trip duration</a:t>
            </a:r>
            <a:endParaRPr lang="en-GB" b="1" dirty="0"/>
          </a:p>
        </p:txBody>
      </p:sp>
      <p:sp>
        <p:nvSpPr>
          <p:cNvPr id="4" name="Slide Number Placeholder 3"/>
          <p:cNvSpPr>
            <a:spLocks noGrp="1"/>
          </p:cNvSpPr>
          <p:nvPr>
            <p:ph type="sldNum" sz="quarter" idx="5"/>
          </p:nvPr>
        </p:nvSpPr>
        <p:spPr/>
        <p:txBody>
          <a:bodyPr/>
          <a:lstStyle/>
          <a:p>
            <a:fld id="{A4C2DEDE-296A-4C34-A824-01ED55D8B609}" type="slidenum">
              <a:rPr lang="en-GB" smtClean="0"/>
              <a:t>20</a:t>
            </a:fld>
            <a:endParaRPr lang="en-GB"/>
          </a:p>
        </p:txBody>
      </p:sp>
    </p:spTree>
    <p:extLst>
      <p:ext uri="{BB962C8B-B14F-4D97-AF65-F5344CB8AC3E}">
        <p14:creationId xmlns:p14="http://schemas.microsoft.com/office/powerpoint/2010/main" val="2630399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Times New Roman" panose="02020603050405020304" pitchFamily="18" charset="0"/>
                <a:cs typeface="Times New Roman" panose="02020603050405020304" pitchFamily="18" charset="0"/>
              </a:rPr>
              <a:t>Insight</a:t>
            </a:r>
            <a:r>
              <a:rPr lang="en-GB" dirty="0">
                <a:latin typeface="Times New Roman" panose="02020603050405020304" pitchFamily="18" charset="0"/>
                <a:cs typeface="Times New Roman" panose="02020603050405020304" pitchFamily="18" charset="0"/>
              </a:rPr>
              <a:t>: Trip demand remained largely stable over time, while passenger volume and revenue fluctuate day-to-day with similar patterns</a:t>
            </a:r>
            <a:endParaRPr lang="en-GB" dirty="0"/>
          </a:p>
        </p:txBody>
      </p:sp>
      <p:sp>
        <p:nvSpPr>
          <p:cNvPr id="4" name="Slide Number Placeholder 3"/>
          <p:cNvSpPr>
            <a:spLocks noGrp="1"/>
          </p:cNvSpPr>
          <p:nvPr>
            <p:ph type="sldNum" sz="quarter" idx="5"/>
          </p:nvPr>
        </p:nvSpPr>
        <p:spPr/>
        <p:txBody>
          <a:bodyPr/>
          <a:lstStyle/>
          <a:p>
            <a:fld id="{A4C2DEDE-296A-4C34-A824-01ED55D8B609}" type="slidenum">
              <a:rPr lang="en-GB" smtClean="0"/>
              <a:t>21</a:t>
            </a:fld>
            <a:endParaRPr lang="en-GB"/>
          </a:p>
        </p:txBody>
      </p:sp>
    </p:spTree>
    <p:extLst>
      <p:ext uri="{BB962C8B-B14F-4D97-AF65-F5344CB8AC3E}">
        <p14:creationId xmlns:p14="http://schemas.microsoft.com/office/powerpoint/2010/main" val="657921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latin typeface="Times New Roman" panose="02020603050405020304" pitchFamily="18" charset="0"/>
                <a:cs typeface="Times New Roman" panose="02020603050405020304" pitchFamily="18" charset="0"/>
              </a:rPr>
              <a:t>Insight</a:t>
            </a:r>
            <a:r>
              <a:rPr lang="en-GB" dirty="0"/>
              <a:t>: All mode of transport expressed volatility over time</a:t>
            </a:r>
          </a:p>
        </p:txBody>
      </p:sp>
      <p:sp>
        <p:nvSpPr>
          <p:cNvPr id="4" name="Slide Number Placeholder 3"/>
          <p:cNvSpPr>
            <a:spLocks noGrp="1"/>
          </p:cNvSpPr>
          <p:nvPr>
            <p:ph type="sldNum" sz="quarter" idx="5"/>
          </p:nvPr>
        </p:nvSpPr>
        <p:spPr/>
        <p:txBody>
          <a:bodyPr/>
          <a:lstStyle/>
          <a:p>
            <a:fld id="{A4C2DEDE-296A-4C34-A824-01ED55D8B609}" type="slidenum">
              <a:rPr lang="en-GB" smtClean="0"/>
              <a:t>22</a:t>
            </a:fld>
            <a:endParaRPr lang="en-GB"/>
          </a:p>
        </p:txBody>
      </p:sp>
    </p:spTree>
    <p:extLst>
      <p:ext uri="{BB962C8B-B14F-4D97-AF65-F5344CB8AC3E}">
        <p14:creationId xmlns:p14="http://schemas.microsoft.com/office/powerpoint/2010/main" val="1760347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CEEC1-97FD-0DC2-9FC9-877510DFF4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B9AD570-A0AF-78D2-D56C-9978F29921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5CB1FF7-AA8A-1D4E-C13F-A196A739BF58}"/>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5" name="Footer Placeholder 4">
            <a:extLst>
              <a:ext uri="{FF2B5EF4-FFF2-40B4-BE49-F238E27FC236}">
                <a16:creationId xmlns:a16="http://schemas.microsoft.com/office/drawing/2014/main" id="{F8054CCC-B03B-3D2D-86B3-D1CC796D8C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13E341-6E02-EBF7-D51F-6D56F10F9C2B}"/>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71751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E7FCF-9666-3D7B-866E-B566A9F0197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BD5B6C6-9A14-F0A9-B685-B8126CCDCD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F913C2-46FE-72CE-EA3C-5A36CFD98091}"/>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5" name="Footer Placeholder 4">
            <a:extLst>
              <a:ext uri="{FF2B5EF4-FFF2-40B4-BE49-F238E27FC236}">
                <a16:creationId xmlns:a16="http://schemas.microsoft.com/office/drawing/2014/main" id="{9C8ABCEE-2EC8-C360-F16F-95B74A704F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1E02A5-1D70-C71C-C98E-422B3E83B301}"/>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1037493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CA508-3F8C-9142-EA98-7611C5658B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CD0A51C-BE3F-AEB9-18EE-46B31E361E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F97420-80EA-0534-74DD-DCA49D5C1350}"/>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5" name="Footer Placeholder 4">
            <a:extLst>
              <a:ext uri="{FF2B5EF4-FFF2-40B4-BE49-F238E27FC236}">
                <a16:creationId xmlns:a16="http://schemas.microsoft.com/office/drawing/2014/main" id="{F91791CD-88FB-0964-9D85-C4846012D3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D7BB01-D0F8-849C-6073-D1244100951F}"/>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2348728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C8F5-CE74-F3BB-BC08-29CBB83F64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6E4AA92-F071-511B-6382-E191613D1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737092F-9A93-214C-9C54-6C1DB738D6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87DBD33-64CC-8EAD-AD5A-ACBD1F83DF13}"/>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6" name="Footer Placeholder 5">
            <a:extLst>
              <a:ext uri="{FF2B5EF4-FFF2-40B4-BE49-F238E27FC236}">
                <a16:creationId xmlns:a16="http://schemas.microsoft.com/office/drawing/2014/main" id="{2C4A2208-590B-E782-368B-548D0BA0896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3180B34-479A-88CB-2746-F44BBA251E75}"/>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2905593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A64BD-5786-1160-569A-DD7991216C9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9FD508F-B58A-F2FF-8CB1-36944DD222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021F70-3F10-8EB9-6FFE-5A6565E378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3232A5B-5E1A-8464-5821-7D23A39FF0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D381D4-CECB-FD55-4C2F-6AC23BAB11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5FA3F23-6EAB-22A1-6666-D8ABD14EF8C6}"/>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8" name="Footer Placeholder 7">
            <a:extLst>
              <a:ext uri="{FF2B5EF4-FFF2-40B4-BE49-F238E27FC236}">
                <a16:creationId xmlns:a16="http://schemas.microsoft.com/office/drawing/2014/main" id="{4ACAC0F0-9CFC-9DAD-7BE4-15AFC919FE5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56964E2-D743-DB5A-1276-852223553CBE}"/>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2476944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D1C37-7000-6F54-46DD-84BE2798B6C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AE054A9-C7F7-DE25-0CA7-C3B21C34B44A}"/>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4" name="Footer Placeholder 3">
            <a:extLst>
              <a:ext uri="{FF2B5EF4-FFF2-40B4-BE49-F238E27FC236}">
                <a16:creationId xmlns:a16="http://schemas.microsoft.com/office/drawing/2014/main" id="{C4444417-6962-F7C8-1285-239F74A4CAC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BC8F4C4-728E-CD16-45AD-6CBEB56D2F13}"/>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451257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2FDBBE-5516-F89D-2314-C55DBDAF53A4}"/>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3" name="Footer Placeholder 2">
            <a:extLst>
              <a:ext uri="{FF2B5EF4-FFF2-40B4-BE49-F238E27FC236}">
                <a16:creationId xmlns:a16="http://schemas.microsoft.com/office/drawing/2014/main" id="{6441E86F-48E1-1C0C-85A0-86E34D8170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E0F45C-3F6D-762A-C5FF-56A2B0E1D2B4}"/>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2515694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3B2CC-D521-C100-A386-006C75B555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F6E57B-6C2A-2F88-F3E8-229196BA77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26BC98E-E017-6345-F7FA-B4245D7E09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5805D3-33A1-5897-1C7B-DE6B05DAB7CE}"/>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6" name="Footer Placeholder 5">
            <a:extLst>
              <a:ext uri="{FF2B5EF4-FFF2-40B4-BE49-F238E27FC236}">
                <a16:creationId xmlns:a16="http://schemas.microsoft.com/office/drawing/2014/main" id="{B1305568-1B9D-961B-CA55-D7DA2195B4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0E0D621-BD7D-4D02-D430-23C3D3A5CFBA}"/>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1685421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8D097-0A29-9B71-7A5D-297CA46C73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385920-8FA2-60D3-6C30-236B256D85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CA200D6-BB3D-821A-2E66-255352FF02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25F6B6-67B2-E7AC-6F83-BD79446EB404}"/>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6" name="Footer Placeholder 5">
            <a:extLst>
              <a:ext uri="{FF2B5EF4-FFF2-40B4-BE49-F238E27FC236}">
                <a16:creationId xmlns:a16="http://schemas.microsoft.com/office/drawing/2014/main" id="{CAB5AE66-9257-8A69-7432-57E1379109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3E0327-37F6-E8A9-7487-464218FE6C6D}"/>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3411733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F0961-678B-9654-85A1-87475704D3A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DCEC759-DEAE-93C1-1EDB-6208E675C6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BAC1B4-FB54-007A-2D38-5A7898CA1512}"/>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5" name="Footer Placeholder 4">
            <a:extLst>
              <a:ext uri="{FF2B5EF4-FFF2-40B4-BE49-F238E27FC236}">
                <a16:creationId xmlns:a16="http://schemas.microsoft.com/office/drawing/2014/main" id="{24B28EA2-C9C7-BA9D-CE44-FF1AF86E8E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7B1A42-A458-4A96-35AE-A9CA09615805}"/>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3320024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F83881-2CC9-CA82-4ABF-51817A4FC8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A69C930-3A5B-CD29-CFC0-66A531C796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9E2375-64D9-761E-1791-D416FEDEAAAB}"/>
              </a:ext>
            </a:extLst>
          </p:cNvPr>
          <p:cNvSpPr>
            <a:spLocks noGrp="1"/>
          </p:cNvSpPr>
          <p:nvPr>
            <p:ph type="dt" sz="half" idx="10"/>
          </p:nvPr>
        </p:nvSpPr>
        <p:spPr/>
        <p:txBody>
          <a:bodyPr/>
          <a:lstStyle/>
          <a:p>
            <a:fld id="{39C0FB28-0D6D-4C6C-ADC2-6B80819CD4F5}" type="datetimeFigureOut">
              <a:rPr lang="en-GB" smtClean="0"/>
              <a:t>27/05/2026</a:t>
            </a:fld>
            <a:endParaRPr lang="en-GB"/>
          </a:p>
        </p:txBody>
      </p:sp>
      <p:sp>
        <p:nvSpPr>
          <p:cNvPr id="5" name="Footer Placeholder 4">
            <a:extLst>
              <a:ext uri="{FF2B5EF4-FFF2-40B4-BE49-F238E27FC236}">
                <a16:creationId xmlns:a16="http://schemas.microsoft.com/office/drawing/2014/main" id="{ABF92791-93D8-D699-8FB2-A900281617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9EAA90-84C9-F44E-5094-9EC25211208E}"/>
              </a:ext>
            </a:extLst>
          </p:cNvPr>
          <p:cNvSpPr>
            <a:spLocks noGrp="1"/>
          </p:cNvSpPr>
          <p:nvPr>
            <p:ph type="sldNum" sz="quarter" idx="12"/>
          </p:nvPr>
        </p:nvSpPr>
        <p:spPr/>
        <p:txBody>
          <a:bodyPr/>
          <a:lstStyle/>
          <a:p>
            <a:fld id="{62F18331-5144-4878-8ACA-76DB581870E1}" type="slidenum">
              <a:rPr lang="en-GB" smtClean="0"/>
              <a:t>‹#›</a:t>
            </a:fld>
            <a:endParaRPr lang="en-GB"/>
          </a:p>
        </p:txBody>
      </p:sp>
    </p:spTree>
    <p:extLst>
      <p:ext uri="{BB962C8B-B14F-4D97-AF65-F5344CB8AC3E}">
        <p14:creationId xmlns:p14="http://schemas.microsoft.com/office/powerpoint/2010/main" val="1378969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3000"/>
                <a:satMod val="150000"/>
                <a:shade val="98000"/>
                <a:lumMod val="102000"/>
              </a:schemeClr>
            </a:gs>
            <a:gs pos="0">
              <a:schemeClr val="bg2">
                <a:shade val="63000"/>
                <a:satMod val="120000"/>
              </a:schemeClr>
            </a:gs>
          </a:gsLst>
          <a:lin ang="54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BEDAE7-3250-E0CB-B390-2C59D5E46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54341B4-CD29-86C2-D018-7280358D6B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79411A-9F5A-1F88-8942-05F9B22071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C0FB28-0D6D-4C6C-ADC2-6B80819CD4F5}" type="datetimeFigureOut">
              <a:rPr lang="en-GB" smtClean="0"/>
              <a:t>27/05/2026</a:t>
            </a:fld>
            <a:endParaRPr lang="en-GB"/>
          </a:p>
        </p:txBody>
      </p:sp>
      <p:sp>
        <p:nvSpPr>
          <p:cNvPr id="5" name="Footer Placeholder 4">
            <a:extLst>
              <a:ext uri="{FF2B5EF4-FFF2-40B4-BE49-F238E27FC236}">
                <a16:creationId xmlns:a16="http://schemas.microsoft.com/office/drawing/2014/main" id="{4206E1F3-9503-F42C-41F8-5FE1D75D14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B9FC503-B65D-04C3-ED9A-683FC77A27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F18331-5144-4878-8ACA-76DB581870E1}" type="slidenum">
              <a:rPr lang="en-GB" smtClean="0"/>
              <a:t>‹#›</a:t>
            </a:fld>
            <a:endParaRPr lang="en-GB"/>
          </a:p>
        </p:txBody>
      </p:sp>
    </p:spTree>
    <p:extLst>
      <p:ext uri="{BB962C8B-B14F-4D97-AF65-F5344CB8AC3E}">
        <p14:creationId xmlns:p14="http://schemas.microsoft.com/office/powerpoint/2010/main" val="82706047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AE394F-AFF1-4485-AF1F-7387A2F04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People Discussing">
            <a:extLst>
              <a:ext uri="{FF2B5EF4-FFF2-40B4-BE49-F238E27FC236}">
                <a16:creationId xmlns:a16="http://schemas.microsoft.com/office/drawing/2014/main" id="{ED21DE15-B9C6-F8B2-126F-6247B82617E6}"/>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3323345"/>
          </a:xfrm>
          <a:prstGeom prst="rect">
            <a:avLst/>
          </a:prstGeom>
          <a:gradFill flip="none" rotWithShape="1">
            <a:gsLst>
              <a:gs pos="57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C5B594-8252-A9F4-0AC5-D5EAB4A30CF1}"/>
              </a:ext>
            </a:extLst>
          </p:cNvPr>
          <p:cNvSpPr>
            <a:spLocks noGrp="1"/>
          </p:cNvSpPr>
          <p:nvPr>
            <p:ph type="ctrTitle"/>
          </p:nvPr>
        </p:nvSpPr>
        <p:spPr>
          <a:xfrm>
            <a:off x="321733" y="554845"/>
            <a:ext cx="10656891" cy="3902673"/>
          </a:xfrm>
        </p:spPr>
        <p:txBody>
          <a:bodyPr anchor="t">
            <a:normAutofit/>
          </a:bodyPr>
          <a:lstStyle/>
          <a:p>
            <a:pPr algn="l"/>
            <a:r>
              <a:rPr lang="en-GB" sz="5200" dirty="0">
                <a:solidFill>
                  <a:srgbClr val="FFFFFF"/>
                </a:solidFill>
                <a:latin typeface="Times New Roman" panose="02020603050405020304" pitchFamily="18" charset="0"/>
                <a:cs typeface="Times New Roman" panose="02020603050405020304" pitchFamily="18" charset="0"/>
              </a:rPr>
              <a:t>An Exploratory Data Analysis Report on Public Transit Operations:</a:t>
            </a:r>
            <a:br>
              <a:rPr lang="en-GB" sz="5200" dirty="0">
                <a:solidFill>
                  <a:srgbClr val="FFFFFF"/>
                </a:solidFill>
                <a:latin typeface="Times New Roman" panose="02020603050405020304" pitchFamily="18" charset="0"/>
                <a:cs typeface="Times New Roman" panose="02020603050405020304" pitchFamily="18" charset="0"/>
              </a:rPr>
            </a:br>
            <a:r>
              <a:rPr lang="en-GB" sz="5200" dirty="0">
                <a:solidFill>
                  <a:srgbClr val="FFFFFF"/>
                </a:solidFill>
                <a:latin typeface="Times New Roman" panose="02020603050405020304" pitchFamily="18" charset="0"/>
                <a:cs typeface="Times New Roman" panose="02020603050405020304" pitchFamily="18" charset="0"/>
              </a:rPr>
              <a:t>Insights for MetroMove Transit Solutions</a:t>
            </a:r>
          </a:p>
        </p:txBody>
      </p:sp>
      <p:sp>
        <p:nvSpPr>
          <p:cNvPr id="13" name="Rectangle 12">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7" y="4704862"/>
            <a:ext cx="12191999" cy="2155484"/>
          </a:xfrm>
          <a:prstGeom prst="rect">
            <a:avLst/>
          </a:prstGeom>
          <a:gradFill flip="none" rotWithShape="1">
            <a:gsLst>
              <a:gs pos="59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3F09127-0582-E174-EA26-5B7018948B38}"/>
              </a:ext>
            </a:extLst>
          </p:cNvPr>
          <p:cNvSpPr>
            <a:spLocks noGrp="1"/>
          </p:cNvSpPr>
          <p:nvPr>
            <p:ph type="subTitle" idx="1"/>
          </p:nvPr>
        </p:nvSpPr>
        <p:spPr>
          <a:xfrm>
            <a:off x="315523" y="4718033"/>
            <a:ext cx="10678296" cy="1175039"/>
          </a:xfrm>
        </p:spPr>
        <p:txBody>
          <a:bodyPr anchor="b">
            <a:normAutofit/>
          </a:bodyPr>
          <a:lstStyle/>
          <a:p>
            <a:pPr algn="l"/>
            <a:endParaRPr lang="en-GB">
              <a:solidFill>
                <a:srgbClr val="FFFFFF"/>
              </a:solidFill>
            </a:endParaRPr>
          </a:p>
          <a:p>
            <a:pPr algn="l"/>
            <a:r>
              <a:rPr lang="en-GB">
                <a:solidFill>
                  <a:srgbClr val="FFFFFF"/>
                </a:solidFill>
                <a:latin typeface="Times New Roman" panose="02020603050405020304" pitchFamily="18" charset="0"/>
                <a:cs typeface="Times New Roman" panose="02020603050405020304" pitchFamily="18" charset="0"/>
              </a:rPr>
              <a:t>Presented by: Kuroyefa Leghemo</a:t>
            </a:r>
          </a:p>
        </p:txBody>
      </p:sp>
    </p:spTree>
    <p:extLst>
      <p:ext uri="{BB962C8B-B14F-4D97-AF65-F5344CB8AC3E}">
        <p14:creationId xmlns:p14="http://schemas.microsoft.com/office/powerpoint/2010/main" val="4551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13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nterior of empty bus">
            <a:extLst>
              <a:ext uri="{FF2B5EF4-FFF2-40B4-BE49-F238E27FC236}">
                <a16:creationId xmlns:a16="http://schemas.microsoft.com/office/drawing/2014/main" id="{9BC25C1C-9DBA-A461-F334-4AC786B20B5C}"/>
              </a:ext>
            </a:extLst>
          </p:cNvPr>
          <p:cNvPicPr>
            <a:picLocks noChangeAspect="1"/>
          </p:cNvPicPr>
          <p:nvPr/>
        </p:nvPicPr>
        <p:blipFill>
          <a:blip r:embed="rId2"/>
          <a:srcRect l="3632" r="2250" b="-1"/>
          <a:stretch>
            <a:fillRect/>
          </a:stretch>
        </p:blipFill>
        <p:spPr>
          <a:xfrm>
            <a:off x="2522356" y="10"/>
            <a:ext cx="9669642" cy="6857990"/>
          </a:xfrm>
          <a:prstGeom prst="rect">
            <a:avLst/>
          </a:prstGeom>
        </p:spPr>
      </p:pic>
      <p:sp>
        <p:nvSpPr>
          <p:cNvPr id="16" name="Rectangle 1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D29ACC-34DB-C539-444F-38083128C74F}"/>
              </a:ext>
            </a:extLst>
          </p:cNvPr>
          <p:cNvSpPr>
            <a:spLocks noGrp="1"/>
          </p:cNvSpPr>
          <p:nvPr>
            <p:ph type="title"/>
          </p:nvPr>
        </p:nvSpPr>
        <p:spPr>
          <a:xfrm>
            <a:off x="520963" y="365125"/>
            <a:ext cx="3822189" cy="1899912"/>
          </a:xfrm>
        </p:spPr>
        <p:txBody>
          <a:bodyPr>
            <a:normAutofit/>
          </a:bodyPr>
          <a:lstStyle/>
          <a:p>
            <a:r>
              <a:rPr lang="en-GB" sz="4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10263B8-B673-D792-9FC6-88E49681ACDD}"/>
              </a:ext>
            </a:extLst>
          </p:cNvPr>
          <p:cNvSpPr>
            <a:spLocks noGrp="1"/>
          </p:cNvSpPr>
          <p:nvPr>
            <p:ph idx="1"/>
          </p:nvPr>
        </p:nvSpPr>
        <p:spPr>
          <a:xfrm>
            <a:off x="503854" y="2071396"/>
            <a:ext cx="4156536" cy="4105567"/>
          </a:xfrm>
        </p:spPr>
        <p:txBody>
          <a:bodyPr>
            <a:noAutofit/>
          </a:bodyPr>
          <a:lstStyle/>
          <a:p>
            <a:r>
              <a:rPr lang="en-GB" sz="2700" dirty="0">
                <a:latin typeface="Times New Roman" panose="02020603050405020304" pitchFamily="18" charset="0"/>
                <a:cs typeface="Times New Roman" panose="02020603050405020304" pitchFamily="18" charset="0"/>
              </a:rPr>
              <a:t>MetroMove Transit Solutions operates across multiple cities</a:t>
            </a:r>
          </a:p>
          <a:p>
            <a:r>
              <a:rPr lang="en-GB" sz="2700" dirty="0">
                <a:latin typeface="Times New Roman" panose="02020603050405020304" pitchFamily="18" charset="0"/>
                <a:cs typeface="Times New Roman" panose="02020603050405020304" pitchFamily="18" charset="0"/>
              </a:rPr>
              <a:t>Manage thousands of daily trips via buses, trains, ferries, and trams</a:t>
            </a:r>
          </a:p>
          <a:p>
            <a:r>
              <a:rPr lang="en-GB" sz="2700" dirty="0">
                <a:latin typeface="Times New Roman" panose="02020603050405020304" pitchFamily="18" charset="0"/>
                <a:cs typeface="Times New Roman" panose="02020603050405020304" pitchFamily="18" charset="0"/>
              </a:rPr>
              <a:t>Focus on delivering efficient, affordable, and data-driven transportation</a:t>
            </a:r>
          </a:p>
        </p:txBody>
      </p:sp>
    </p:spTree>
    <p:extLst>
      <p:ext uri="{BB962C8B-B14F-4D97-AF65-F5344CB8AC3E}">
        <p14:creationId xmlns:p14="http://schemas.microsoft.com/office/powerpoint/2010/main" val="39011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Magnifying glass showing decling performance">
            <a:extLst>
              <a:ext uri="{FF2B5EF4-FFF2-40B4-BE49-F238E27FC236}">
                <a16:creationId xmlns:a16="http://schemas.microsoft.com/office/drawing/2014/main" id="{494EB2DA-6606-449B-EE3E-F50A561E09BB}"/>
              </a:ext>
            </a:extLst>
          </p:cNvPr>
          <p:cNvPicPr>
            <a:picLocks noChangeAspect="1"/>
          </p:cNvPicPr>
          <p:nvPr/>
        </p:nvPicPr>
        <p:blipFill>
          <a:blip r:embed="rId2"/>
          <a:srcRect r="5882" b="-1"/>
          <a:stretch>
            <a:fillRect/>
          </a:stretch>
        </p:blipFill>
        <p:spPr>
          <a:xfrm>
            <a:off x="1" y="10"/>
            <a:ext cx="9669642" cy="6857990"/>
          </a:xfrm>
          <a:prstGeom prst="rect">
            <a:avLst/>
          </a:prstGeom>
        </p:spPr>
      </p:pic>
      <p:sp>
        <p:nvSpPr>
          <p:cNvPr id="27" name="Rectangle 2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5DFF80-2A3B-43FF-F8A0-58C46CD734FD}"/>
              </a:ext>
            </a:extLst>
          </p:cNvPr>
          <p:cNvSpPr>
            <a:spLocks noGrp="1"/>
          </p:cNvSpPr>
          <p:nvPr>
            <p:ph type="title"/>
          </p:nvPr>
        </p:nvSpPr>
        <p:spPr>
          <a:xfrm>
            <a:off x="7258896" y="365125"/>
            <a:ext cx="3822189" cy="1899912"/>
          </a:xfrm>
        </p:spPr>
        <p:txBody>
          <a:bodyPr>
            <a:normAutofit/>
          </a:bodyPr>
          <a:lstStyle/>
          <a:p>
            <a:r>
              <a:rPr lang="en-GB" sz="40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D33CE3FD-1748-30EB-6053-6AD734C28413}"/>
              </a:ext>
            </a:extLst>
          </p:cNvPr>
          <p:cNvSpPr>
            <a:spLocks noGrp="1"/>
          </p:cNvSpPr>
          <p:nvPr>
            <p:ph idx="1"/>
          </p:nvPr>
        </p:nvSpPr>
        <p:spPr>
          <a:xfrm>
            <a:off x="7074568" y="2438399"/>
            <a:ext cx="5114383" cy="3866148"/>
          </a:xfrm>
        </p:spPr>
        <p:txBody>
          <a:bodyPr>
            <a:normAutofit fontScale="92500" lnSpcReduction="10000"/>
          </a:bodyPr>
          <a:lstStyle/>
          <a:p>
            <a:r>
              <a:rPr lang="en-GB" sz="2900" dirty="0" err="1">
                <a:latin typeface="Times New Roman" panose="02020603050405020304" pitchFamily="18" charset="0"/>
                <a:cs typeface="Times New Roman" panose="02020603050405020304" pitchFamily="18" charset="0"/>
              </a:rPr>
              <a:t>MetroMove</a:t>
            </a:r>
            <a:r>
              <a:rPr lang="en-GB" sz="2900" dirty="0">
                <a:latin typeface="Times New Roman" panose="02020603050405020304" pitchFamily="18" charset="0"/>
                <a:cs typeface="Times New Roman" panose="02020603050405020304" pitchFamily="18" charset="0"/>
              </a:rPr>
              <a:t> has extensive trip data </a:t>
            </a:r>
          </a:p>
          <a:p>
            <a:r>
              <a:rPr lang="en-GB" sz="2900" dirty="0">
                <a:latin typeface="Times New Roman" panose="02020603050405020304" pitchFamily="18" charset="0"/>
                <a:cs typeface="Times New Roman" panose="02020603050405020304" pitchFamily="18" charset="0"/>
              </a:rPr>
              <a:t>Difficulty extracting meaningful insights due to poor data quality data including messy, inconsistent, and incomplete records</a:t>
            </a:r>
          </a:p>
          <a:p>
            <a:r>
              <a:rPr lang="en-GB" sz="2900" dirty="0">
                <a:latin typeface="Times New Roman" panose="02020603050405020304" pitchFamily="18" charset="0"/>
                <a:cs typeface="Times New Roman" panose="02020603050405020304" pitchFamily="18" charset="0"/>
              </a:rPr>
              <a:t>Limited ability to identify inefficiencies and improve operations</a:t>
            </a:r>
          </a:p>
          <a:p>
            <a:pPr marL="0" indent="0">
              <a:buNone/>
            </a:pPr>
            <a:endParaRPr lang="en-GB" sz="2000" dirty="0"/>
          </a:p>
        </p:txBody>
      </p:sp>
    </p:spTree>
    <p:extLst>
      <p:ext uri="{BB962C8B-B14F-4D97-AF65-F5344CB8AC3E}">
        <p14:creationId xmlns:p14="http://schemas.microsoft.com/office/powerpoint/2010/main" val="58292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947A-A05F-0303-8DD8-DC2921D62CE4}"/>
              </a:ext>
            </a:extLst>
          </p:cNvPr>
          <p:cNvSpPr>
            <a:spLocks noGrp="1"/>
          </p:cNvSpPr>
          <p:nvPr>
            <p:ph type="title"/>
          </p:nvPr>
        </p:nvSpPr>
        <p:spPr/>
        <p:txBody>
          <a:bodyPr/>
          <a:lstStyle/>
          <a:p>
            <a:r>
              <a:rPr lang="en-GB">
                <a:latin typeface="Times New Roman" panose="02020603050405020304" pitchFamily="18" charset="0"/>
                <a:cs typeface="Times New Roman" panose="02020603050405020304" pitchFamily="18" charset="0"/>
              </a:rPr>
              <a:t>Objectives</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0F8770-A271-917B-6455-EEAEB49163D9}"/>
              </a:ext>
            </a:extLst>
          </p:cNvPr>
          <p:cNvSpPr>
            <a:spLocks noGrp="1"/>
          </p:cNvSpPr>
          <p:nvPr>
            <p:ph idx="1"/>
          </p:nvPr>
        </p:nvSpPr>
        <p:spPr/>
        <p:txBody>
          <a:bodyPr>
            <a:normAutofit/>
          </a:bodyPr>
          <a:lstStyle/>
          <a:p>
            <a:pPr defTabSz="1244600">
              <a:spcBef>
                <a:spcPct val="0"/>
              </a:spcBef>
              <a:spcAft>
                <a:spcPct val="35000"/>
              </a:spcAft>
            </a:pPr>
            <a:r>
              <a:rPr lang="en-GB" sz="2700" dirty="0">
                <a:latin typeface="Times New Roman" panose="02020603050405020304" pitchFamily="18" charset="0"/>
                <a:cs typeface="Times New Roman" panose="02020603050405020304" pitchFamily="18" charset="0"/>
              </a:rPr>
              <a:t>Clean the dataset to ensure data quality</a:t>
            </a:r>
            <a:endParaRPr lang="en-US" sz="2700" dirty="0">
              <a:latin typeface="Times New Roman" panose="02020603050405020304" pitchFamily="18" charset="0"/>
              <a:cs typeface="Times New Roman" panose="02020603050405020304" pitchFamily="18" charset="0"/>
            </a:endParaRPr>
          </a:p>
          <a:p>
            <a:pPr defTabSz="1244600">
              <a:spcBef>
                <a:spcPct val="0"/>
              </a:spcBef>
              <a:spcAft>
                <a:spcPct val="35000"/>
              </a:spcAft>
            </a:pPr>
            <a:r>
              <a:rPr lang="en-GB" sz="2700" dirty="0" err="1">
                <a:latin typeface="Times New Roman" panose="02020603050405020304" pitchFamily="18" charset="0"/>
                <a:cs typeface="Times New Roman" panose="02020603050405020304" pitchFamily="18" charset="0"/>
              </a:rPr>
              <a:t>Analyze</a:t>
            </a:r>
            <a:r>
              <a:rPr lang="en-GB" sz="2700" dirty="0">
                <a:latin typeface="Times New Roman" panose="02020603050405020304" pitchFamily="18" charset="0"/>
                <a:cs typeface="Times New Roman" panose="02020603050405020304" pitchFamily="18" charset="0"/>
              </a:rPr>
              <a:t> passenger usage patterns </a:t>
            </a:r>
            <a:endParaRPr lang="en-US" sz="2700" dirty="0">
              <a:latin typeface="Times New Roman" panose="02020603050405020304" pitchFamily="18" charset="0"/>
              <a:cs typeface="Times New Roman" panose="02020603050405020304" pitchFamily="18" charset="0"/>
            </a:endParaRPr>
          </a:p>
          <a:p>
            <a:pPr defTabSz="1244600">
              <a:spcBef>
                <a:spcPct val="0"/>
              </a:spcBef>
              <a:spcAft>
                <a:spcPct val="35000"/>
              </a:spcAft>
            </a:pPr>
            <a:r>
              <a:rPr lang="en-GB" sz="2700" dirty="0">
                <a:latin typeface="Times New Roman" panose="02020603050405020304" pitchFamily="18" charset="0"/>
                <a:cs typeface="Times New Roman" panose="02020603050405020304" pitchFamily="18" charset="0"/>
              </a:rPr>
              <a:t>Evaluate performance across transport modes </a:t>
            </a:r>
            <a:endParaRPr lang="en-US" sz="2700" dirty="0">
              <a:latin typeface="Times New Roman" panose="02020603050405020304" pitchFamily="18" charset="0"/>
              <a:cs typeface="Times New Roman" panose="02020603050405020304" pitchFamily="18" charset="0"/>
            </a:endParaRPr>
          </a:p>
          <a:p>
            <a:pPr defTabSz="1244600">
              <a:spcBef>
                <a:spcPct val="0"/>
              </a:spcBef>
              <a:spcAft>
                <a:spcPct val="35000"/>
              </a:spcAft>
            </a:pPr>
            <a:r>
              <a:rPr lang="en-GB" sz="2700" dirty="0">
                <a:latin typeface="Times New Roman" panose="02020603050405020304" pitchFamily="18" charset="0"/>
                <a:cs typeface="Times New Roman" panose="02020603050405020304" pitchFamily="18" charset="0"/>
              </a:rPr>
              <a:t>Perform descriptive statistics to summarize key metrics</a:t>
            </a:r>
          </a:p>
          <a:p>
            <a:pPr defTabSz="1244600">
              <a:spcBef>
                <a:spcPct val="0"/>
              </a:spcBef>
              <a:spcAft>
                <a:spcPct val="35000"/>
              </a:spcAft>
            </a:pPr>
            <a:r>
              <a:rPr lang="en-GB" sz="2700" dirty="0">
                <a:latin typeface="Times New Roman" panose="02020603050405020304" pitchFamily="18" charset="0"/>
                <a:cs typeface="Times New Roman" panose="02020603050405020304" pitchFamily="18" charset="0"/>
              </a:rPr>
              <a:t>Create visualizations that effectively communicate findings</a:t>
            </a:r>
          </a:p>
          <a:p>
            <a:pPr defTabSz="1244600">
              <a:spcBef>
                <a:spcPct val="0"/>
              </a:spcBef>
              <a:spcAft>
                <a:spcPct val="35000"/>
              </a:spcAft>
            </a:pPr>
            <a:r>
              <a:rPr lang="en-GB" sz="2700" dirty="0">
                <a:latin typeface="Times New Roman" panose="02020603050405020304" pitchFamily="18" charset="0"/>
                <a:cs typeface="Times New Roman" panose="02020603050405020304" pitchFamily="18" charset="0"/>
              </a:rPr>
              <a:t>Clear documentations of analysis and actionable recommendations</a:t>
            </a:r>
            <a:endParaRPr lang="en-US" sz="2700" dirty="0">
              <a:latin typeface="Times New Roman" panose="02020603050405020304" pitchFamily="18" charset="0"/>
              <a:cs typeface="Times New Roman" panose="02020603050405020304" pitchFamily="18" charset="0"/>
            </a:endParaRPr>
          </a:p>
          <a:p>
            <a:pPr defTabSz="1244600">
              <a:spcBef>
                <a:spcPct val="0"/>
              </a:spcBef>
              <a:spcAft>
                <a:spcPct val="35000"/>
              </a:spcAft>
            </a:pPr>
            <a:endParaRPr lang="en-US" dirty="0">
              <a:latin typeface="Times New Roman" panose="02020603050405020304" pitchFamily="18" charset="0"/>
              <a:cs typeface="Times New Roman" panose="02020603050405020304" pitchFamily="18" charset="0"/>
            </a:endParaRPr>
          </a:p>
          <a:p>
            <a:pPr defTabSz="1244600">
              <a:spcBef>
                <a:spcPct val="0"/>
              </a:spcBef>
              <a:spcAft>
                <a:spcPct val="35000"/>
              </a:spcAft>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8786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0C482-A199-8DBD-C6CB-A8EB391267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6EDF9-7FC8-D67B-31C7-7C1155134D27}"/>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Data Description</a:t>
            </a:r>
          </a:p>
        </p:txBody>
      </p:sp>
      <p:sp>
        <p:nvSpPr>
          <p:cNvPr id="3" name="Content Placeholder 2">
            <a:extLst>
              <a:ext uri="{FF2B5EF4-FFF2-40B4-BE49-F238E27FC236}">
                <a16:creationId xmlns:a16="http://schemas.microsoft.com/office/drawing/2014/main" id="{1E102A45-B0AD-EB86-7C16-72298CF15F9C}"/>
              </a:ext>
            </a:extLst>
          </p:cNvPr>
          <p:cNvSpPr>
            <a:spLocks noGrp="1"/>
          </p:cNvSpPr>
          <p:nvPr>
            <p:ph idx="1"/>
          </p:nvPr>
        </p:nvSpPr>
        <p:spPr/>
        <p:txBody>
          <a:bodyPr>
            <a:normAutofit/>
          </a:bodyPr>
          <a:lstStyle/>
          <a:p>
            <a:r>
              <a:rPr lang="en-GB" sz="2700" dirty="0">
                <a:latin typeface="Times New Roman" panose="02020603050405020304" pitchFamily="18" charset="0"/>
                <a:cs typeface="Times New Roman" panose="02020603050405020304" pitchFamily="18" charset="0"/>
              </a:rPr>
              <a:t>The dataset was provided by 10alytics and comprises MetroMove daily trip records spanning a six weeks period (Jan - Feb 2024) </a:t>
            </a:r>
          </a:p>
          <a:p>
            <a:r>
              <a:rPr lang="en-GB" sz="2700" dirty="0">
                <a:latin typeface="Times New Roman" panose="02020603050405020304" pitchFamily="18" charset="0"/>
                <a:cs typeface="Times New Roman" panose="02020603050405020304" pitchFamily="18" charset="0"/>
              </a:rPr>
              <a:t>Consists of 1,000 rows and 12 columns</a:t>
            </a:r>
          </a:p>
          <a:p>
            <a:r>
              <a:rPr lang="en-GB" sz="2700" dirty="0">
                <a:latin typeface="Times New Roman" panose="02020603050405020304" pitchFamily="18" charset="0"/>
                <a:cs typeface="Times New Roman" panose="02020603050405020304" pitchFamily="18" charset="0"/>
              </a:rPr>
              <a:t>Key variables captured includes trip id, mode of transport, departure station, arrival station, departure time, passenger count, fare amount, trip duration, date, and day of the week</a:t>
            </a:r>
          </a:p>
          <a:p>
            <a:r>
              <a:rPr lang="en-GB" sz="2700" dirty="0">
                <a:latin typeface="Times New Roman" panose="02020603050405020304" pitchFamily="18" charset="0"/>
                <a:cs typeface="Times New Roman" panose="02020603050405020304" pitchFamily="18" charset="0"/>
              </a:rPr>
              <a:t>Tool was Python, leveraging Pandas, Matplotlib, Seaborn, and </a:t>
            </a:r>
            <a:r>
              <a:rPr lang="en-GB" sz="2700" dirty="0" err="1">
                <a:latin typeface="Times New Roman" panose="02020603050405020304" pitchFamily="18" charset="0"/>
                <a:cs typeface="Times New Roman" panose="02020603050405020304" pitchFamily="18" charset="0"/>
              </a:rPr>
              <a:t>Missingno</a:t>
            </a:r>
            <a:r>
              <a:rPr lang="en-GB" sz="2700" dirty="0">
                <a:latin typeface="Times New Roman" panose="02020603050405020304" pitchFamily="18" charset="0"/>
                <a:cs typeface="Times New Roman" panose="02020603050405020304" pitchFamily="18" charset="0"/>
              </a:rPr>
              <a:t> for data manipulation, EDA and visualization</a:t>
            </a:r>
          </a:p>
        </p:txBody>
      </p:sp>
    </p:spTree>
    <p:extLst>
      <p:ext uri="{BB962C8B-B14F-4D97-AF65-F5344CB8AC3E}">
        <p14:creationId xmlns:p14="http://schemas.microsoft.com/office/powerpoint/2010/main" val="808343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980A0-75FE-35D2-E61C-038729080008}"/>
              </a:ext>
            </a:extLst>
          </p:cNvPr>
          <p:cNvSpPr>
            <a:spLocks noGrp="1"/>
          </p:cNvSpPr>
          <p:nvPr>
            <p:ph type="title"/>
          </p:nvPr>
        </p:nvSpPr>
        <p:spPr/>
        <p:txBody>
          <a:bodyPr/>
          <a:lstStyle/>
          <a:p>
            <a:r>
              <a:rPr lang="en-GB">
                <a:latin typeface="Times New Roman" panose="02020603050405020304" pitchFamily="18" charset="0"/>
                <a:cs typeface="Times New Roman" panose="02020603050405020304" pitchFamily="18" charset="0"/>
              </a:rPr>
              <a:t>Methodology</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93CCCF-DAE0-A24F-DA29-BAAD3A2BC460}"/>
              </a:ext>
            </a:extLst>
          </p:cNvPr>
          <p:cNvSpPr>
            <a:spLocks noGrp="1"/>
          </p:cNvSpPr>
          <p:nvPr>
            <p:ph idx="1"/>
          </p:nvPr>
        </p:nvSpPr>
        <p:spPr/>
        <p:txBody>
          <a:bodyPr>
            <a:normAutofit fontScale="92500" lnSpcReduction="10000"/>
          </a:bodyPr>
          <a:lstStyle/>
          <a:p>
            <a:pPr marL="0" indent="0">
              <a:buNone/>
            </a:pPr>
            <a:r>
              <a:rPr lang="en-GB" b="1" dirty="0">
                <a:latin typeface="Times New Roman" panose="02020603050405020304" pitchFamily="18" charset="0"/>
                <a:cs typeface="Times New Roman" panose="02020603050405020304" pitchFamily="18" charset="0"/>
              </a:rPr>
              <a:t>Data loading and EDA</a:t>
            </a:r>
          </a:p>
          <a:p>
            <a:r>
              <a:rPr lang="en-GB" dirty="0">
                <a:latin typeface="Times New Roman" panose="02020603050405020304" pitchFamily="18" charset="0"/>
                <a:cs typeface="Times New Roman" panose="02020603050405020304" pitchFamily="18" charset="0"/>
              </a:rPr>
              <a:t>The dataset was loaded into Python from an Excel source and initial profiling done to understand the data types, quality, structure and initial statistical summaries</a:t>
            </a:r>
          </a:p>
          <a:p>
            <a:pPr marL="0" indent="0">
              <a:buNone/>
            </a:pPr>
            <a:r>
              <a:rPr lang="en-GB" b="1" dirty="0">
                <a:latin typeface="Times New Roman" panose="02020603050405020304" pitchFamily="18" charset="0"/>
                <a:cs typeface="Times New Roman" panose="02020603050405020304" pitchFamily="18" charset="0"/>
              </a:rPr>
              <a:t>Data cleaning and preprocessing</a:t>
            </a:r>
          </a:p>
          <a:p>
            <a:r>
              <a:rPr lang="en-GB" dirty="0">
                <a:latin typeface="Times New Roman" panose="02020603050405020304" pitchFamily="18" charset="0"/>
                <a:cs typeface="Times New Roman" panose="02020603050405020304" pitchFamily="18" charset="0"/>
              </a:rPr>
              <a:t>Poor data qualities including inconsistencies were standardized, whitespace errors removed, non-informative/useless fields dropped and new columns were created to enhance analysis</a:t>
            </a:r>
          </a:p>
          <a:p>
            <a:r>
              <a:rPr lang="en-GB" dirty="0">
                <a:latin typeface="Times New Roman" panose="02020603050405020304" pitchFamily="18" charset="0"/>
                <a:cs typeface="Times New Roman" panose="02020603050405020304" pitchFamily="18" charset="0"/>
              </a:rPr>
              <a:t>Missing data patterns were assessed and found to exhibit characteristics consistent with MAR mechanism, informing a  grouped-based median imputation of missing values</a:t>
            </a:r>
          </a:p>
        </p:txBody>
      </p:sp>
    </p:spTree>
    <p:extLst>
      <p:ext uri="{BB962C8B-B14F-4D97-AF65-F5344CB8AC3E}">
        <p14:creationId xmlns:p14="http://schemas.microsoft.com/office/powerpoint/2010/main" val="658941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50365-DC2E-C2E1-2CFE-524F1AF045F5}"/>
              </a:ext>
            </a:extLst>
          </p:cNvPr>
          <p:cNvSpPr>
            <a:spLocks noGrp="1"/>
          </p:cNvSpPr>
          <p:nvPr>
            <p:ph type="title"/>
          </p:nvPr>
        </p:nvSpPr>
        <p:spPr/>
        <p:txBody>
          <a:bodyPr/>
          <a:lstStyle/>
          <a:p>
            <a:r>
              <a:rPr lang="en-GB">
                <a:latin typeface="Times New Roman" panose="02020603050405020304" pitchFamily="18" charset="0"/>
                <a:cs typeface="Times New Roman" panose="02020603050405020304" pitchFamily="18" charset="0"/>
              </a:rPr>
              <a:t>Methodology</a:t>
            </a: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1761B3-DC65-E7FE-82BF-2CFA7C28ADFB}"/>
              </a:ext>
            </a:extLst>
          </p:cNvPr>
          <p:cNvSpPr>
            <a:spLocks noGrp="1"/>
          </p:cNvSpPr>
          <p:nvPr>
            <p:ph idx="1"/>
          </p:nvPr>
        </p:nvSpPr>
        <p:spPr/>
        <p:txBody>
          <a:bodyPr>
            <a:normAutofit lnSpcReduction="10000"/>
          </a:bodyPr>
          <a:lstStyle/>
          <a:p>
            <a:pPr marL="0" indent="0">
              <a:buNone/>
            </a:pPr>
            <a:r>
              <a:rPr lang="en-GB" b="1" dirty="0">
                <a:latin typeface="Times New Roman" panose="02020603050405020304" pitchFamily="18" charset="0"/>
                <a:cs typeface="Times New Roman" panose="02020603050405020304" pitchFamily="18" charset="0"/>
              </a:rPr>
              <a:t>Exploratory analysis and visualization</a:t>
            </a: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Visualization techniques were used to uncover patterns in passenger behaviour, fare structure, and trip performance across transport modes and time variable</a:t>
            </a:r>
          </a:p>
          <a:p>
            <a:pPr marL="0" indent="0">
              <a:buNone/>
            </a:pPr>
            <a:r>
              <a:rPr lang="en-GB" b="1" dirty="0">
                <a:latin typeface="Times New Roman" panose="02020603050405020304" pitchFamily="18" charset="0"/>
                <a:cs typeface="Times New Roman" panose="02020603050405020304" pitchFamily="18" charset="0"/>
              </a:rPr>
              <a:t>Statistical validation</a:t>
            </a: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Post-cleaning descriptive statistics was computed to establish accurate values for key operational metrics</a:t>
            </a:r>
          </a:p>
          <a:p>
            <a:r>
              <a:rPr lang="en-GB" b="1" dirty="0">
                <a:latin typeface="Times New Roman" panose="02020603050405020304" pitchFamily="18" charset="0"/>
                <a:cs typeface="Times New Roman" panose="02020603050405020304" pitchFamily="18" charset="0"/>
              </a:rPr>
              <a:t>Actionable Recommendation</a:t>
            </a: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Actionable Recommendations  informed by findings was made to improve passenger experience and optimize operations</a:t>
            </a:r>
          </a:p>
          <a:p>
            <a:endParaRPr lang="en-GB" dirty="0"/>
          </a:p>
        </p:txBody>
      </p:sp>
    </p:spTree>
    <p:extLst>
      <p:ext uri="{BB962C8B-B14F-4D97-AF65-F5344CB8AC3E}">
        <p14:creationId xmlns:p14="http://schemas.microsoft.com/office/powerpoint/2010/main" val="2988570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A502-1C75-1172-C705-80DBB816140C}"/>
              </a:ext>
            </a:extLst>
          </p:cNvPr>
          <p:cNvSpPr>
            <a:spLocks noGrp="1"/>
          </p:cNvSpPr>
          <p:nvPr>
            <p:ph type="title"/>
          </p:nvPr>
        </p:nvSpPr>
        <p:spPr>
          <a:xfrm>
            <a:off x="838200" y="-8095"/>
            <a:ext cx="10515600" cy="1325563"/>
          </a:xfrm>
        </p:spPr>
        <p:txBody>
          <a:bodyPr/>
          <a:lstStyle/>
          <a:p>
            <a:r>
              <a:rPr lang="en-GB" dirty="0">
                <a:latin typeface="Times New Roman" panose="02020603050405020304" pitchFamily="18" charset="0"/>
                <a:cs typeface="Times New Roman" panose="02020603050405020304" pitchFamily="18" charset="0"/>
              </a:rPr>
              <a:t>Results</a:t>
            </a:r>
            <a:endParaRPr lang="en-GB" dirty="0"/>
          </a:p>
        </p:txBody>
      </p:sp>
      <p:pic>
        <p:nvPicPr>
          <p:cNvPr id="9" name="Content Placeholder 8">
            <a:extLst>
              <a:ext uri="{FF2B5EF4-FFF2-40B4-BE49-F238E27FC236}">
                <a16:creationId xmlns:a16="http://schemas.microsoft.com/office/drawing/2014/main" id="{B3EBBA1F-65FE-B0D6-B1D1-09D0B4EB79F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97585" y="970390"/>
            <a:ext cx="10180492" cy="5261619"/>
          </a:xfrm>
          <a:prstGeom prst="rect">
            <a:avLst/>
          </a:prstGeom>
        </p:spPr>
      </p:pic>
      <p:sp>
        <p:nvSpPr>
          <p:cNvPr id="10" name="TextBox 9">
            <a:extLst>
              <a:ext uri="{FF2B5EF4-FFF2-40B4-BE49-F238E27FC236}">
                <a16:creationId xmlns:a16="http://schemas.microsoft.com/office/drawing/2014/main" id="{9982D340-E1C4-A56D-F6D7-232A36188752}"/>
              </a:ext>
            </a:extLst>
          </p:cNvPr>
          <p:cNvSpPr txBox="1"/>
          <p:nvPr/>
        </p:nvSpPr>
        <p:spPr>
          <a:xfrm>
            <a:off x="2998244" y="6302058"/>
            <a:ext cx="6761338" cy="430887"/>
          </a:xfrm>
          <a:prstGeom prst="rect">
            <a:avLst/>
          </a:prstGeom>
          <a:noFill/>
        </p:spPr>
        <p:txBody>
          <a:bodyPr wrap="none" rtlCol="0">
            <a:spAutoFit/>
          </a:bodyPr>
          <a:lstStyle/>
          <a:p>
            <a:r>
              <a:rPr lang="en-GB" sz="2200" b="1" dirty="0">
                <a:latin typeface="Times New Roman" panose="02020603050405020304" pitchFamily="18" charset="0"/>
                <a:cs typeface="Times New Roman" panose="02020603050405020304" pitchFamily="18" charset="0"/>
              </a:rPr>
              <a:t>Figure 1a: Heatmap of Dataset Before Data Cleaning</a:t>
            </a:r>
          </a:p>
        </p:txBody>
      </p:sp>
    </p:spTree>
    <p:extLst>
      <p:ext uri="{BB962C8B-B14F-4D97-AF65-F5344CB8AC3E}">
        <p14:creationId xmlns:p14="http://schemas.microsoft.com/office/powerpoint/2010/main" val="1692698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9EE23-9807-1A35-F3A1-9C02784DB5DE}"/>
              </a:ext>
            </a:extLst>
          </p:cNvPr>
          <p:cNvSpPr>
            <a:spLocks noGrp="1"/>
          </p:cNvSpPr>
          <p:nvPr>
            <p:ph type="title"/>
          </p:nvPr>
        </p:nvSpPr>
        <p:spPr>
          <a:xfrm>
            <a:off x="838200" y="10566"/>
            <a:ext cx="10515600" cy="1325563"/>
          </a:xfrm>
        </p:spPr>
        <p:txBody>
          <a:bodyPr/>
          <a:lstStyle/>
          <a:p>
            <a:r>
              <a:rPr lang="en-GB" dirty="0">
                <a:latin typeface="Times New Roman" panose="02020603050405020304" pitchFamily="18" charset="0"/>
                <a:cs typeface="Times New Roman" panose="02020603050405020304" pitchFamily="18" charset="0"/>
              </a:rPr>
              <a:t>Results</a:t>
            </a:r>
            <a:endParaRPr lang="en-GB" dirty="0"/>
          </a:p>
        </p:txBody>
      </p:sp>
      <p:pic>
        <p:nvPicPr>
          <p:cNvPr id="5" name="Content Placeholder 4">
            <a:extLst>
              <a:ext uri="{FF2B5EF4-FFF2-40B4-BE49-F238E27FC236}">
                <a16:creationId xmlns:a16="http://schemas.microsoft.com/office/drawing/2014/main" id="{528CCD53-6CD3-EFFB-6848-1A3AC8C17E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945766"/>
            <a:ext cx="10515600" cy="5281377"/>
          </a:xfrm>
          <a:prstGeom prst="rect">
            <a:avLst/>
          </a:prstGeom>
        </p:spPr>
      </p:pic>
      <p:sp>
        <p:nvSpPr>
          <p:cNvPr id="6" name="TextBox 5">
            <a:extLst>
              <a:ext uri="{FF2B5EF4-FFF2-40B4-BE49-F238E27FC236}">
                <a16:creationId xmlns:a16="http://schemas.microsoft.com/office/drawing/2014/main" id="{39D4DFE3-7B78-BFE1-D331-819F9319B2CB}"/>
              </a:ext>
            </a:extLst>
          </p:cNvPr>
          <p:cNvSpPr txBox="1"/>
          <p:nvPr/>
        </p:nvSpPr>
        <p:spPr>
          <a:xfrm>
            <a:off x="2998244" y="6302058"/>
            <a:ext cx="5233549" cy="430887"/>
          </a:xfrm>
          <a:prstGeom prst="rect">
            <a:avLst/>
          </a:prstGeom>
          <a:noFill/>
        </p:spPr>
        <p:txBody>
          <a:bodyPr wrap="none" rtlCol="0">
            <a:spAutoFit/>
          </a:bodyPr>
          <a:lstStyle/>
          <a:p>
            <a:r>
              <a:rPr lang="en-GB" sz="2200" b="1" dirty="0"/>
              <a:t>Figure 1b: Heatmap After Data Cleaning</a:t>
            </a:r>
          </a:p>
        </p:txBody>
      </p:sp>
    </p:spTree>
    <p:extLst>
      <p:ext uri="{BB962C8B-B14F-4D97-AF65-F5344CB8AC3E}">
        <p14:creationId xmlns:p14="http://schemas.microsoft.com/office/powerpoint/2010/main" val="370114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4854E-4FEA-A0A3-57A6-1351252C7384}"/>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Result</a:t>
            </a:r>
          </a:p>
        </p:txBody>
      </p:sp>
      <p:sp>
        <p:nvSpPr>
          <p:cNvPr id="3" name="Content Placeholder 2">
            <a:extLst>
              <a:ext uri="{FF2B5EF4-FFF2-40B4-BE49-F238E27FC236}">
                <a16:creationId xmlns:a16="http://schemas.microsoft.com/office/drawing/2014/main" id="{ED8B0D52-5BB9-A101-52C2-D257F2370B52}"/>
              </a:ext>
            </a:extLst>
          </p:cNvPr>
          <p:cNvSpPr>
            <a:spLocks noGrp="1"/>
          </p:cNvSpPr>
          <p:nvPr>
            <p:ph idx="1"/>
          </p:nvPr>
        </p:nvSpPr>
        <p:spPr/>
        <p:txBody>
          <a:bodyPr/>
          <a:lstStyle/>
          <a:p>
            <a:r>
              <a:rPr lang="en-GB" dirty="0"/>
              <a:t>Key metrics: </a:t>
            </a:r>
          </a:p>
          <a:p>
            <a:pPr lvl="1"/>
            <a:r>
              <a:rPr lang="en-GB" dirty="0"/>
              <a:t>Total trips 1000</a:t>
            </a:r>
          </a:p>
          <a:p>
            <a:pPr lvl="1"/>
            <a:r>
              <a:rPr lang="en-GB" dirty="0"/>
              <a:t>Average  passengers count 49.5</a:t>
            </a:r>
          </a:p>
          <a:p>
            <a:pPr lvl="1"/>
            <a:r>
              <a:rPr lang="en-GB" dirty="0"/>
              <a:t>Average fare amount 25.4</a:t>
            </a:r>
          </a:p>
          <a:p>
            <a:pPr lvl="1"/>
            <a:r>
              <a:rPr lang="en-GB" dirty="0"/>
              <a:t>Average trip duration 94.5</a:t>
            </a:r>
          </a:p>
          <a:p>
            <a:pPr lvl="1"/>
            <a:endParaRPr lang="en-GB" dirty="0"/>
          </a:p>
          <a:p>
            <a:pPr lvl="1"/>
            <a:endParaRPr lang="en-GB" dirty="0"/>
          </a:p>
          <a:p>
            <a:pPr lvl="1"/>
            <a:endParaRPr lang="en-GB" dirty="0"/>
          </a:p>
        </p:txBody>
      </p:sp>
    </p:spTree>
    <p:extLst>
      <p:ext uri="{BB962C8B-B14F-4D97-AF65-F5344CB8AC3E}">
        <p14:creationId xmlns:p14="http://schemas.microsoft.com/office/powerpoint/2010/main" val="1475479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F2A3A-698B-9FCE-C1C2-917AC5B78035}"/>
              </a:ext>
            </a:extLst>
          </p:cNvPr>
          <p:cNvSpPr>
            <a:spLocks noGrp="1"/>
          </p:cNvSpPr>
          <p:nvPr>
            <p:ph type="title"/>
          </p:nvPr>
        </p:nvSpPr>
        <p:spPr>
          <a:xfrm>
            <a:off x="838200" y="-8095"/>
            <a:ext cx="10515600" cy="1325563"/>
          </a:xfrm>
        </p:spPr>
        <p:txBody>
          <a:bodyPr/>
          <a:lstStyle/>
          <a:p>
            <a:r>
              <a:rPr lang="en-GB" dirty="0">
                <a:latin typeface="Times New Roman" panose="02020603050405020304" pitchFamily="18" charset="0"/>
                <a:cs typeface="Times New Roman" panose="02020603050405020304" pitchFamily="18" charset="0"/>
              </a:rPr>
              <a:t>Result</a:t>
            </a:r>
          </a:p>
        </p:txBody>
      </p:sp>
      <p:pic>
        <p:nvPicPr>
          <p:cNvPr id="5" name="Content Placeholder 4">
            <a:extLst>
              <a:ext uri="{FF2B5EF4-FFF2-40B4-BE49-F238E27FC236}">
                <a16:creationId xmlns:a16="http://schemas.microsoft.com/office/drawing/2014/main" id="{3A2E45D5-F69E-2F66-2AAC-8175AB02EC5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0462" y="981897"/>
            <a:ext cx="10924592" cy="5157744"/>
          </a:xfrm>
          <a:prstGeom prst="rect">
            <a:avLst/>
          </a:prstGeom>
        </p:spPr>
      </p:pic>
      <p:sp>
        <p:nvSpPr>
          <p:cNvPr id="6" name="TextBox 5">
            <a:extLst>
              <a:ext uri="{FF2B5EF4-FFF2-40B4-BE49-F238E27FC236}">
                <a16:creationId xmlns:a16="http://schemas.microsoft.com/office/drawing/2014/main" id="{158CB60C-F8AC-6AFA-9968-A5A3058A4010}"/>
              </a:ext>
            </a:extLst>
          </p:cNvPr>
          <p:cNvSpPr txBox="1"/>
          <p:nvPr/>
        </p:nvSpPr>
        <p:spPr>
          <a:xfrm>
            <a:off x="2475728" y="6326157"/>
            <a:ext cx="7281930" cy="400110"/>
          </a:xfrm>
          <a:prstGeom prst="rect">
            <a:avLst/>
          </a:prstGeom>
          <a:noFill/>
        </p:spPr>
        <p:txBody>
          <a:bodyPr wrap="none" rtlCol="0">
            <a:spAutoFit/>
          </a:bodyPr>
          <a:lstStyle/>
          <a:p>
            <a:r>
              <a:rPr lang="en-GB" sz="2000" b="1" dirty="0"/>
              <a:t>Figure 2: The Total Distribution of Passengers Across All Trips </a:t>
            </a:r>
          </a:p>
        </p:txBody>
      </p:sp>
    </p:spTree>
    <p:extLst>
      <p:ext uri="{BB962C8B-B14F-4D97-AF65-F5344CB8AC3E}">
        <p14:creationId xmlns:p14="http://schemas.microsoft.com/office/powerpoint/2010/main" val="1894883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1572D-14A7-44B0-53CF-D872AFDE57DF}"/>
              </a:ext>
            </a:extLst>
          </p:cNvPr>
          <p:cNvSpPr>
            <a:spLocks noGrp="1"/>
          </p:cNvSpPr>
          <p:nvPr>
            <p:ph type="title"/>
          </p:nvPr>
        </p:nvSpPr>
        <p:spPr>
          <a:xfrm>
            <a:off x="838200" y="122532"/>
            <a:ext cx="10515600" cy="1325563"/>
          </a:xfrm>
        </p:spPr>
        <p:txBody>
          <a:bodyPr/>
          <a:lstStyle/>
          <a:p>
            <a:r>
              <a:rPr lang="en-GB" dirty="0">
                <a:latin typeface="Georgia" panose="02040502050405020303" pitchFamily="18" charset="0"/>
              </a:rPr>
              <a:t>Result</a:t>
            </a:r>
          </a:p>
        </p:txBody>
      </p:sp>
      <p:pic>
        <p:nvPicPr>
          <p:cNvPr id="5" name="Content Placeholder 4">
            <a:extLst>
              <a:ext uri="{FF2B5EF4-FFF2-40B4-BE49-F238E27FC236}">
                <a16:creationId xmlns:a16="http://schemas.microsoft.com/office/drawing/2014/main" id="{3B0AB136-8214-030F-D1CD-6D384FEEF47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9759" y="1148931"/>
            <a:ext cx="10285600" cy="5148664"/>
          </a:xfrm>
          <a:prstGeom prst="rect">
            <a:avLst/>
          </a:prstGeom>
        </p:spPr>
      </p:pic>
      <p:sp>
        <p:nvSpPr>
          <p:cNvPr id="6" name="TextBox 5">
            <a:extLst>
              <a:ext uri="{FF2B5EF4-FFF2-40B4-BE49-F238E27FC236}">
                <a16:creationId xmlns:a16="http://schemas.microsoft.com/office/drawing/2014/main" id="{2A81D7F4-8897-8E69-D1C2-595DD9C9B637}"/>
              </a:ext>
            </a:extLst>
          </p:cNvPr>
          <p:cNvSpPr txBox="1"/>
          <p:nvPr/>
        </p:nvSpPr>
        <p:spPr>
          <a:xfrm>
            <a:off x="3713584" y="6344818"/>
            <a:ext cx="4663264"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3: Total Trips by Day of the Week</a:t>
            </a:r>
          </a:p>
        </p:txBody>
      </p:sp>
    </p:spTree>
    <p:extLst>
      <p:ext uri="{BB962C8B-B14F-4D97-AF65-F5344CB8AC3E}">
        <p14:creationId xmlns:p14="http://schemas.microsoft.com/office/powerpoint/2010/main" val="2871404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08C9E-02F7-C76D-FBC3-17244DBA1F01}"/>
              </a:ext>
            </a:extLst>
          </p:cNvPr>
          <p:cNvSpPr>
            <a:spLocks noGrp="1"/>
          </p:cNvSpPr>
          <p:nvPr>
            <p:ph type="title"/>
          </p:nvPr>
        </p:nvSpPr>
        <p:spPr>
          <a:xfrm>
            <a:off x="838200" y="10566"/>
            <a:ext cx="10515600" cy="1325563"/>
          </a:xfrm>
        </p:spPr>
        <p:txBody>
          <a:bodyPr/>
          <a:lstStyle/>
          <a:p>
            <a:r>
              <a:rPr lang="en-GB" dirty="0">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76B9A4E8-8F39-FAA1-3AB8-E2A2A588187D}"/>
              </a:ext>
            </a:extLst>
          </p:cNvPr>
          <p:cNvSpPr txBox="1"/>
          <p:nvPr/>
        </p:nvSpPr>
        <p:spPr>
          <a:xfrm>
            <a:off x="3676268" y="6419463"/>
            <a:ext cx="4910383"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4: Total Trips by Mode of Transport</a:t>
            </a:r>
          </a:p>
        </p:txBody>
      </p:sp>
      <p:pic>
        <p:nvPicPr>
          <p:cNvPr id="8" name="Content Placeholder 7">
            <a:extLst>
              <a:ext uri="{FF2B5EF4-FFF2-40B4-BE49-F238E27FC236}">
                <a16:creationId xmlns:a16="http://schemas.microsoft.com/office/drawing/2014/main" id="{D238F10D-6473-3535-16A9-A9866CAF9F9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31957" y="1074822"/>
            <a:ext cx="6186883" cy="5282274"/>
          </a:xfrm>
          <a:prstGeom prst="rect">
            <a:avLst/>
          </a:prstGeom>
        </p:spPr>
      </p:pic>
    </p:spTree>
    <p:extLst>
      <p:ext uri="{BB962C8B-B14F-4D97-AF65-F5344CB8AC3E}">
        <p14:creationId xmlns:p14="http://schemas.microsoft.com/office/powerpoint/2010/main" val="4208239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55475-A04E-8110-06E7-C39F8CB8D235}"/>
              </a:ext>
            </a:extLst>
          </p:cNvPr>
          <p:cNvSpPr>
            <a:spLocks noGrp="1"/>
          </p:cNvSpPr>
          <p:nvPr>
            <p:ph type="title"/>
          </p:nvPr>
        </p:nvSpPr>
        <p:spPr>
          <a:xfrm>
            <a:off x="838200" y="-8095"/>
            <a:ext cx="10515600" cy="1325563"/>
          </a:xfrm>
        </p:spPr>
        <p:txBody>
          <a:bodyPr/>
          <a:lstStyle/>
          <a:p>
            <a:r>
              <a:rPr lang="en-GB" dirty="0">
                <a:latin typeface="Times New Roman" panose="02020603050405020304" pitchFamily="18" charset="0"/>
                <a:cs typeface="Times New Roman" panose="02020603050405020304" pitchFamily="18" charset="0"/>
              </a:rPr>
              <a:t>Results</a:t>
            </a:r>
          </a:p>
        </p:txBody>
      </p:sp>
      <p:pic>
        <p:nvPicPr>
          <p:cNvPr id="5" name="Content Placeholder 4">
            <a:extLst>
              <a:ext uri="{FF2B5EF4-FFF2-40B4-BE49-F238E27FC236}">
                <a16:creationId xmlns:a16="http://schemas.microsoft.com/office/drawing/2014/main" id="{E434F9B2-B897-350B-7717-81BA8F81F7D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51314" y="1175338"/>
            <a:ext cx="7520473" cy="5239769"/>
          </a:xfrm>
          <a:prstGeom prst="rect">
            <a:avLst/>
          </a:prstGeom>
        </p:spPr>
      </p:pic>
      <p:sp>
        <p:nvSpPr>
          <p:cNvPr id="6" name="TextBox 5">
            <a:extLst>
              <a:ext uri="{FF2B5EF4-FFF2-40B4-BE49-F238E27FC236}">
                <a16:creationId xmlns:a16="http://schemas.microsoft.com/office/drawing/2014/main" id="{F13B4300-D388-13B8-5ECC-52BF099F8A62}"/>
              </a:ext>
            </a:extLst>
          </p:cNvPr>
          <p:cNvSpPr txBox="1"/>
          <p:nvPr/>
        </p:nvSpPr>
        <p:spPr>
          <a:xfrm>
            <a:off x="3582963" y="6326158"/>
            <a:ext cx="4822026"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5: Total Trips by Departure Station</a:t>
            </a:r>
          </a:p>
        </p:txBody>
      </p:sp>
    </p:spTree>
    <p:extLst>
      <p:ext uri="{BB962C8B-B14F-4D97-AF65-F5344CB8AC3E}">
        <p14:creationId xmlns:p14="http://schemas.microsoft.com/office/powerpoint/2010/main" val="595257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E4A20-A14F-A692-2D76-97D56D5B8074}"/>
              </a:ext>
            </a:extLst>
          </p:cNvPr>
          <p:cNvSpPr>
            <a:spLocks noGrp="1"/>
          </p:cNvSpPr>
          <p:nvPr>
            <p:ph type="title"/>
          </p:nvPr>
        </p:nvSpPr>
        <p:spPr>
          <a:xfrm>
            <a:off x="838200" y="10561"/>
            <a:ext cx="10515600" cy="1325563"/>
          </a:xfrm>
        </p:spPr>
        <p:txBody>
          <a:bodyPr/>
          <a:lstStyle/>
          <a:p>
            <a:r>
              <a:rPr lang="en-GB" dirty="0">
                <a:latin typeface="Times New Roman" panose="02020603050405020304" pitchFamily="18" charset="0"/>
                <a:cs typeface="Times New Roman" panose="02020603050405020304" pitchFamily="18" charset="0"/>
              </a:rPr>
              <a:t>Results</a:t>
            </a:r>
          </a:p>
        </p:txBody>
      </p:sp>
      <p:sp>
        <p:nvSpPr>
          <p:cNvPr id="6" name="TextBox 5">
            <a:extLst>
              <a:ext uri="{FF2B5EF4-FFF2-40B4-BE49-F238E27FC236}">
                <a16:creationId xmlns:a16="http://schemas.microsoft.com/office/drawing/2014/main" id="{9F9D5741-BA7D-761E-E9C4-3262A9C54816}"/>
              </a:ext>
            </a:extLst>
          </p:cNvPr>
          <p:cNvSpPr txBox="1"/>
          <p:nvPr/>
        </p:nvSpPr>
        <p:spPr>
          <a:xfrm>
            <a:off x="2251794" y="6214189"/>
            <a:ext cx="7618239"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6: Total Passengers And Total Revenue By Departure Station</a:t>
            </a:r>
          </a:p>
        </p:txBody>
      </p:sp>
      <p:pic>
        <p:nvPicPr>
          <p:cNvPr id="8" name="Content Placeholder 7">
            <a:extLst>
              <a:ext uri="{FF2B5EF4-FFF2-40B4-BE49-F238E27FC236}">
                <a16:creationId xmlns:a16="http://schemas.microsoft.com/office/drawing/2014/main" id="{29F4AD16-0390-BFBB-3382-99333103A4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93792" y="1082782"/>
            <a:ext cx="10756523" cy="5094182"/>
          </a:xfrm>
          <a:prstGeom prst="rect">
            <a:avLst/>
          </a:prstGeom>
        </p:spPr>
      </p:pic>
    </p:spTree>
    <p:extLst>
      <p:ext uri="{BB962C8B-B14F-4D97-AF65-F5344CB8AC3E}">
        <p14:creationId xmlns:p14="http://schemas.microsoft.com/office/powerpoint/2010/main" val="3306699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5FEF-D4B1-F7CA-06C2-D4D5CAB6BE28}"/>
              </a:ext>
            </a:extLst>
          </p:cNvPr>
          <p:cNvSpPr>
            <a:spLocks noGrp="1"/>
          </p:cNvSpPr>
          <p:nvPr>
            <p:ph type="title"/>
          </p:nvPr>
        </p:nvSpPr>
        <p:spPr>
          <a:xfrm>
            <a:off x="838200" y="29227"/>
            <a:ext cx="10515600" cy="1325563"/>
          </a:xfrm>
        </p:spPr>
        <p:txBody>
          <a:bodyPr/>
          <a:lstStyle/>
          <a:p>
            <a:r>
              <a:rPr lang="en-GB" b="1" dirty="0"/>
              <a:t>Results</a:t>
            </a:r>
          </a:p>
        </p:txBody>
      </p:sp>
      <p:sp>
        <p:nvSpPr>
          <p:cNvPr id="6" name="TextBox 5">
            <a:extLst>
              <a:ext uri="{FF2B5EF4-FFF2-40B4-BE49-F238E27FC236}">
                <a16:creationId xmlns:a16="http://schemas.microsoft.com/office/drawing/2014/main" id="{90C88AA5-E336-9536-6A4C-0C55801F39EC}"/>
              </a:ext>
            </a:extLst>
          </p:cNvPr>
          <p:cNvSpPr txBox="1"/>
          <p:nvPr/>
        </p:nvSpPr>
        <p:spPr>
          <a:xfrm>
            <a:off x="2164711" y="6363480"/>
            <a:ext cx="7587333"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7: Average Passengers Count Per Trip by Mode of Transport</a:t>
            </a:r>
          </a:p>
        </p:txBody>
      </p:sp>
      <p:pic>
        <p:nvPicPr>
          <p:cNvPr id="8" name="Content Placeholder 7">
            <a:extLst>
              <a:ext uri="{FF2B5EF4-FFF2-40B4-BE49-F238E27FC236}">
                <a16:creationId xmlns:a16="http://schemas.microsoft.com/office/drawing/2014/main" id="{12B24206-B4F6-4417-2138-D4D5927450B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10450" y="946484"/>
            <a:ext cx="9111868" cy="5422309"/>
          </a:xfrm>
          <a:prstGeom prst="rect">
            <a:avLst/>
          </a:prstGeom>
        </p:spPr>
      </p:pic>
    </p:spTree>
    <p:extLst>
      <p:ext uri="{BB962C8B-B14F-4D97-AF65-F5344CB8AC3E}">
        <p14:creationId xmlns:p14="http://schemas.microsoft.com/office/powerpoint/2010/main" val="3863698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66735-F96F-F15A-945C-90188199C9BB}"/>
              </a:ext>
            </a:extLst>
          </p:cNvPr>
          <p:cNvSpPr>
            <a:spLocks noGrp="1"/>
          </p:cNvSpPr>
          <p:nvPr>
            <p:ph type="title"/>
          </p:nvPr>
        </p:nvSpPr>
        <p:spPr>
          <a:xfrm>
            <a:off x="288757" y="66550"/>
            <a:ext cx="10467887" cy="1036606"/>
          </a:xfrm>
        </p:spPr>
        <p:txBody>
          <a:bodyPr>
            <a:normAutofit/>
          </a:bodyPr>
          <a:lstStyle/>
          <a:p>
            <a:r>
              <a:rPr lang="en-GB" dirty="0">
                <a:latin typeface="Times New Roman" panose="02020603050405020304" pitchFamily="18" charset="0"/>
                <a:cs typeface="Times New Roman" panose="02020603050405020304" pitchFamily="18" charset="0"/>
              </a:rPr>
              <a:t>Results</a:t>
            </a:r>
          </a:p>
        </p:txBody>
      </p:sp>
      <p:sp>
        <p:nvSpPr>
          <p:cNvPr id="10" name="TextBox 9">
            <a:extLst>
              <a:ext uri="{FF2B5EF4-FFF2-40B4-BE49-F238E27FC236}">
                <a16:creationId xmlns:a16="http://schemas.microsoft.com/office/drawing/2014/main" id="{58150B3B-664E-BE9F-B103-1CC86E033676}"/>
              </a:ext>
            </a:extLst>
          </p:cNvPr>
          <p:cNvSpPr txBox="1"/>
          <p:nvPr/>
        </p:nvSpPr>
        <p:spPr>
          <a:xfrm>
            <a:off x="1003136" y="6230234"/>
            <a:ext cx="10254538"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8: Average Trip Duration by Route and Transport Mode (Performance Comparison) </a:t>
            </a:r>
          </a:p>
        </p:txBody>
      </p:sp>
      <p:pic>
        <p:nvPicPr>
          <p:cNvPr id="14" name="Content Placeholder 13">
            <a:extLst>
              <a:ext uri="{FF2B5EF4-FFF2-40B4-BE49-F238E27FC236}">
                <a16:creationId xmlns:a16="http://schemas.microsoft.com/office/drawing/2014/main" id="{E3759349-E123-0A83-AAB8-F3C3E4CDBAA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36716" y="857632"/>
            <a:ext cx="9199197" cy="5388102"/>
          </a:xfrm>
          <a:prstGeom prst="rect">
            <a:avLst/>
          </a:prstGeom>
        </p:spPr>
      </p:pic>
    </p:spTree>
    <p:extLst>
      <p:ext uri="{BB962C8B-B14F-4D97-AF65-F5344CB8AC3E}">
        <p14:creationId xmlns:p14="http://schemas.microsoft.com/office/powerpoint/2010/main" val="1353734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27AF2-C744-EBF3-5D19-B2A96F6497C9}"/>
              </a:ext>
            </a:extLst>
          </p:cNvPr>
          <p:cNvSpPr>
            <a:spLocks noGrp="1"/>
          </p:cNvSpPr>
          <p:nvPr>
            <p:ph type="title"/>
          </p:nvPr>
        </p:nvSpPr>
        <p:spPr>
          <a:xfrm>
            <a:off x="320841" y="29227"/>
            <a:ext cx="10510447" cy="1125805"/>
          </a:xfrm>
        </p:spPr>
        <p:txBody>
          <a:bodyPr/>
          <a:lstStyle/>
          <a:p>
            <a:r>
              <a:rPr lang="en-GB" dirty="0">
                <a:latin typeface="Times New Roman" panose="02020603050405020304" pitchFamily="18" charset="0"/>
                <a:cs typeface="Times New Roman" panose="02020603050405020304" pitchFamily="18" charset="0"/>
              </a:rPr>
              <a:t>Results</a:t>
            </a:r>
          </a:p>
        </p:txBody>
      </p:sp>
      <p:pic>
        <p:nvPicPr>
          <p:cNvPr id="5" name="Content Placeholder 4">
            <a:extLst>
              <a:ext uri="{FF2B5EF4-FFF2-40B4-BE49-F238E27FC236}">
                <a16:creationId xmlns:a16="http://schemas.microsoft.com/office/drawing/2014/main" id="{F7C7779B-CD31-C7CF-FE85-F42D408ECC6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52593" y="877077"/>
            <a:ext cx="8674775" cy="5642920"/>
          </a:xfrm>
          <a:prstGeom prst="rect">
            <a:avLst/>
          </a:prstGeom>
        </p:spPr>
      </p:pic>
      <p:sp>
        <p:nvSpPr>
          <p:cNvPr id="6" name="TextBox 5">
            <a:extLst>
              <a:ext uri="{FF2B5EF4-FFF2-40B4-BE49-F238E27FC236}">
                <a16:creationId xmlns:a16="http://schemas.microsoft.com/office/drawing/2014/main" id="{373E13B9-B492-6FAF-6747-0D09B5E5AB1E}"/>
              </a:ext>
            </a:extLst>
          </p:cNvPr>
          <p:cNvSpPr txBox="1"/>
          <p:nvPr/>
        </p:nvSpPr>
        <p:spPr>
          <a:xfrm>
            <a:off x="3347972" y="6459441"/>
            <a:ext cx="6334555"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9: Transport Demand by Mode and Hour of Day </a:t>
            </a:r>
          </a:p>
        </p:txBody>
      </p:sp>
    </p:spTree>
    <p:extLst>
      <p:ext uri="{BB962C8B-B14F-4D97-AF65-F5344CB8AC3E}">
        <p14:creationId xmlns:p14="http://schemas.microsoft.com/office/powerpoint/2010/main" val="887115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DCC93-C37F-AEC8-188F-43C611B38F2A}"/>
              </a:ext>
            </a:extLst>
          </p:cNvPr>
          <p:cNvSpPr>
            <a:spLocks noGrp="1"/>
          </p:cNvSpPr>
          <p:nvPr>
            <p:ph type="title"/>
          </p:nvPr>
        </p:nvSpPr>
        <p:spPr>
          <a:xfrm>
            <a:off x="483639" y="85209"/>
            <a:ext cx="10515600" cy="1325563"/>
          </a:xfrm>
        </p:spPr>
        <p:txBody>
          <a:bodyPr/>
          <a:lstStyle/>
          <a:p>
            <a:r>
              <a:rPr lang="en-GB" dirty="0">
                <a:latin typeface="Times New Roman" panose="02020603050405020304" pitchFamily="18" charset="0"/>
                <a:cs typeface="Times New Roman" panose="02020603050405020304" pitchFamily="18" charset="0"/>
              </a:rPr>
              <a:t>Results</a:t>
            </a:r>
          </a:p>
        </p:txBody>
      </p:sp>
      <p:pic>
        <p:nvPicPr>
          <p:cNvPr id="9" name="Content Placeholder 8">
            <a:extLst>
              <a:ext uri="{FF2B5EF4-FFF2-40B4-BE49-F238E27FC236}">
                <a16:creationId xmlns:a16="http://schemas.microsoft.com/office/drawing/2014/main" id="{49B1C6C8-DBD0-E38D-436B-E9EEE3E99CE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17611" y="1053664"/>
            <a:ext cx="10153137" cy="5179186"/>
          </a:xfrm>
          <a:prstGeom prst="rect">
            <a:avLst/>
          </a:prstGeom>
        </p:spPr>
      </p:pic>
      <p:sp>
        <p:nvSpPr>
          <p:cNvPr id="12" name="TextBox 11">
            <a:extLst>
              <a:ext uri="{FF2B5EF4-FFF2-40B4-BE49-F238E27FC236}">
                <a16:creationId xmlns:a16="http://schemas.microsoft.com/office/drawing/2014/main" id="{8FBA3123-CE2D-5F07-DBF8-47765DCAAA3E}"/>
              </a:ext>
            </a:extLst>
          </p:cNvPr>
          <p:cNvSpPr txBox="1"/>
          <p:nvPr/>
        </p:nvSpPr>
        <p:spPr>
          <a:xfrm>
            <a:off x="3347972" y="6310153"/>
            <a:ext cx="4622869"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10: Fare Amount by Day of Week</a:t>
            </a:r>
          </a:p>
        </p:txBody>
      </p:sp>
    </p:spTree>
    <p:extLst>
      <p:ext uri="{BB962C8B-B14F-4D97-AF65-F5344CB8AC3E}">
        <p14:creationId xmlns:p14="http://schemas.microsoft.com/office/powerpoint/2010/main" val="1353998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12E0-C414-A18A-F0D6-AB296727801B}"/>
              </a:ext>
            </a:extLst>
          </p:cNvPr>
          <p:cNvSpPr>
            <a:spLocks noGrp="1"/>
          </p:cNvSpPr>
          <p:nvPr>
            <p:ph type="title"/>
          </p:nvPr>
        </p:nvSpPr>
        <p:spPr>
          <a:xfrm>
            <a:off x="897146" y="365125"/>
            <a:ext cx="10456653" cy="1135871"/>
          </a:xfrm>
        </p:spPr>
        <p:txBody>
          <a:bodyPr/>
          <a:lstStyle/>
          <a:p>
            <a:r>
              <a:rPr lang="en-GB" dirty="0">
                <a:latin typeface="Times New Roman" panose="02020603050405020304" pitchFamily="18" charset="0"/>
                <a:cs typeface="Times New Roman" panose="02020603050405020304" pitchFamily="18" charset="0"/>
              </a:rPr>
              <a:t>Results</a:t>
            </a:r>
            <a:endParaRPr lang="en-GB" dirty="0"/>
          </a:p>
        </p:txBody>
      </p:sp>
      <p:pic>
        <p:nvPicPr>
          <p:cNvPr id="5" name="Content Placeholder 4">
            <a:extLst>
              <a:ext uri="{FF2B5EF4-FFF2-40B4-BE49-F238E27FC236}">
                <a16:creationId xmlns:a16="http://schemas.microsoft.com/office/drawing/2014/main" id="{7C2614AA-8D91-085C-3541-F088630D40E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50216" y="1276710"/>
            <a:ext cx="9091568" cy="4832816"/>
          </a:xfrm>
          <a:prstGeom prst="rect">
            <a:avLst/>
          </a:prstGeom>
        </p:spPr>
      </p:pic>
      <p:sp>
        <p:nvSpPr>
          <p:cNvPr id="7" name="TextBox 6">
            <a:extLst>
              <a:ext uri="{FF2B5EF4-FFF2-40B4-BE49-F238E27FC236}">
                <a16:creationId xmlns:a16="http://schemas.microsoft.com/office/drawing/2014/main" id="{CDF71860-FA49-D9AD-D0E0-B5B0711DBA22}"/>
              </a:ext>
            </a:extLst>
          </p:cNvPr>
          <p:cNvSpPr txBox="1"/>
          <p:nvPr/>
        </p:nvSpPr>
        <p:spPr>
          <a:xfrm>
            <a:off x="3347972" y="6310153"/>
            <a:ext cx="5947141"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11: Fare Amount by Trip duration in Minutes</a:t>
            </a:r>
          </a:p>
        </p:txBody>
      </p:sp>
    </p:spTree>
    <p:extLst>
      <p:ext uri="{BB962C8B-B14F-4D97-AF65-F5344CB8AC3E}">
        <p14:creationId xmlns:p14="http://schemas.microsoft.com/office/powerpoint/2010/main" val="2806142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E6B42-75E8-E654-CEDB-EDC41EE91477}"/>
              </a:ext>
            </a:extLst>
          </p:cNvPr>
          <p:cNvSpPr>
            <a:spLocks noGrp="1"/>
          </p:cNvSpPr>
          <p:nvPr>
            <p:ph type="title"/>
          </p:nvPr>
        </p:nvSpPr>
        <p:spPr>
          <a:xfrm>
            <a:off x="297026" y="66551"/>
            <a:ext cx="10515600" cy="863892"/>
          </a:xfrm>
        </p:spPr>
        <p:txBody>
          <a:bodyPr/>
          <a:lstStyle/>
          <a:p>
            <a:r>
              <a:rPr lang="en-GB" dirty="0">
                <a:latin typeface="Times New Roman" panose="02020603050405020304" pitchFamily="18" charset="0"/>
                <a:cs typeface="Times New Roman" panose="02020603050405020304" pitchFamily="18" charset="0"/>
              </a:rPr>
              <a:t>Results</a:t>
            </a:r>
          </a:p>
        </p:txBody>
      </p:sp>
      <p:pic>
        <p:nvPicPr>
          <p:cNvPr id="5" name="Content Placeholder 4">
            <a:extLst>
              <a:ext uri="{FF2B5EF4-FFF2-40B4-BE49-F238E27FC236}">
                <a16:creationId xmlns:a16="http://schemas.microsoft.com/office/drawing/2014/main" id="{185C5EAF-4B23-6B7C-7340-013D7FED1BA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7026" y="704133"/>
            <a:ext cx="11422223" cy="5767556"/>
          </a:xfrm>
          <a:prstGeom prst="rect">
            <a:avLst/>
          </a:prstGeom>
        </p:spPr>
      </p:pic>
      <p:sp>
        <p:nvSpPr>
          <p:cNvPr id="6" name="TextBox 5">
            <a:extLst>
              <a:ext uri="{FF2B5EF4-FFF2-40B4-BE49-F238E27FC236}">
                <a16:creationId xmlns:a16="http://schemas.microsoft.com/office/drawing/2014/main" id="{443804B4-1F50-4B83-C098-C4C4231C632F}"/>
              </a:ext>
            </a:extLst>
          </p:cNvPr>
          <p:cNvSpPr txBox="1"/>
          <p:nvPr/>
        </p:nvSpPr>
        <p:spPr>
          <a:xfrm>
            <a:off x="1138340" y="6391475"/>
            <a:ext cx="9823908"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12: Operational Performance Trends: Trips, Passengers, and Revenue Over Time</a:t>
            </a:r>
          </a:p>
        </p:txBody>
      </p:sp>
    </p:spTree>
    <p:extLst>
      <p:ext uri="{BB962C8B-B14F-4D97-AF65-F5344CB8AC3E}">
        <p14:creationId xmlns:p14="http://schemas.microsoft.com/office/powerpoint/2010/main" val="1977468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32925-8649-353D-F1E2-45483860D977}"/>
              </a:ext>
            </a:extLst>
          </p:cNvPr>
          <p:cNvSpPr>
            <a:spLocks noGrp="1"/>
          </p:cNvSpPr>
          <p:nvPr>
            <p:ph type="title"/>
          </p:nvPr>
        </p:nvSpPr>
        <p:spPr>
          <a:xfrm>
            <a:off x="304801" y="77021"/>
            <a:ext cx="10968789" cy="773211"/>
          </a:xfrm>
        </p:spPr>
        <p:txBody>
          <a:bodyPr/>
          <a:lstStyle/>
          <a:p>
            <a:r>
              <a:rPr lang="en-GB" dirty="0">
                <a:latin typeface="Times New Roman" panose="02020603050405020304" pitchFamily="18" charset="0"/>
                <a:cs typeface="Times New Roman" panose="02020603050405020304" pitchFamily="18" charset="0"/>
              </a:rPr>
              <a:t>Result </a:t>
            </a:r>
          </a:p>
        </p:txBody>
      </p:sp>
      <p:pic>
        <p:nvPicPr>
          <p:cNvPr id="5" name="Content Placeholder 4">
            <a:extLst>
              <a:ext uri="{FF2B5EF4-FFF2-40B4-BE49-F238E27FC236}">
                <a16:creationId xmlns:a16="http://schemas.microsoft.com/office/drawing/2014/main" id="{A8FE1F20-8401-C512-8D66-6F80EAC75A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07573" y="733030"/>
            <a:ext cx="11407193" cy="5728991"/>
          </a:xfrm>
          <a:prstGeom prst="rect">
            <a:avLst/>
          </a:prstGeom>
        </p:spPr>
      </p:pic>
      <p:sp>
        <p:nvSpPr>
          <p:cNvPr id="6" name="TextBox 5">
            <a:extLst>
              <a:ext uri="{FF2B5EF4-FFF2-40B4-BE49-F238E27FC236}">
                <a16:creationId xmlns:a16="http://schemas.microsoft.com/office/drawing/2014/main" id="{C18F5344-DFC6-A9D5-9760-D1C4E3D79A53}"/>
              </a:ext>
            </a:extLst>
          </p:cNvPr>
          <p:cNvSpPr txBox="1"/>
          <p:nvPr/>
        </p:nvSpPr>
        <p:spPr>
          <a:xfrm>
            <a:off x="2015415" y="6407845"/>
            <a:ext cx="7393114" cy="400110"/>
          </a:xfrm>
          <a:prstGeom prst="rect">
            <a:avLst/>
          </a:prstGeom>
          <a:noFill/>
        </p:spPr>
        <p:txBody>
          <a:bodyPr wrap="none" rtlCol="0">
            <a:spAutoFit/>
          </a:bodyPr>
          <a:lstStyle/>
          <a:p>
            <a:r>
              <a:rPr lang="en-GB" sz="2000" b="1" dirty="0">
                <a:latin typeface="Times New Roman" panose="02020603050405020304" pitchFamily="18" charset="0"/>
                <a:cs typeface="Times New Roman" panose="02020603050405020304" pitchFamily="18" charset="0"/>
              </a:rPr>
              <a:t>Figure 12: Trends of Passenger Usage Pattern: Mode of Transport </a:t>
            </a:r>
          </a:p>
        </p:txBody>
      </p:sp>
    </p:spTree>
    <p:extLst>
      <p:ext uri="{BB962C8B-B14F-4D97-AF65-F5344CB8AC3E}">
        <p14:creationId xmlns:p14="http://schemas.microsoft.com/office/powerpoint/2010/main" val="2544350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13AF-C9D4-5A5F-B5B8-CA15491EDE6A}"/>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Actionable Recommendations</a:t>
            </a:r>
          </a:p>
        </p:txBody>
      </p:sp>
      <p:sp>
        <p:nvSpPr>
          <p:cNvPr id="3" name="Content Placeholder 2">
            <a:extLst>
              <a:ext uri="{FF2B5EF4-FFF2-40B4-BE49-F238E27FC236}">
                <a16:creationId xmlns:a16="http://schemas.microsoft.com/office/drawing/2014/main" id="{AAE7ABBD-A9D3-684F-89BE-B5681C8B9AD3}"/>
              </a:ext>
            </a:extLst>
          </p:cNvPr>
          <p:cNvSpPr>
            <a:spLocks noGrp="1"/>
          </p:cNvSpPr>
          <p:nvPr>
            <p:ph idx="1"/>
          </p:nvPr>
        </p:nvSpPr>
        <p:spPr/>
        <p:txBody>
          <a:bodyPr>
            <a:normAutofit/>
          </a:bodyPr>
          <a:lstStyle/>
          <a:p>
            <a:pPr marL="0" indent="0">
              <a:buNone/>
            </a:pPr>
            <a:r>
              <a:rPr lang="en-GB" b="1" dirty="0"/>
              <a:t>1. Capacity &amp; Scheduling</a:t>
            </a:r>
            <a:endParaRPr lang="en-GB" dirty="0"/>
          </a:p>
          <a:p>
            <a:r>
              <a:rPr lang="en-GB" dirty="0"/>
              <a:t>Increase bus capacity during late afternoon and evening (5–9 PM) to meet its peak demand</a:t>
            </a:r>
          </a:p>
          <a:p>
            <a:r>
              <a:rPr lang="en-GB" dirty="0"/>
              <a:t>Optimize ferry scheduling around the 8 AM morning peak</a:t>
            </a:r>
          </a:p>
          <a:p>
            <a:r>
              <a:rPr lang="en-GB" dirty="0"/>
              <a:t>Deploy more trains around 7 AM and 2 PM when demand spikes</a:t>
            </a:r>
          </a:p>
          <a:p>
            <a:r>
              <a:rPr lang="en-GB" dirty="0"/>
              <a:t>Trim tram scheduling and use targeted incentives to address consistent underutilization across all hours</a:t>
            </a:r>
          </a:p>
          <a:p>
            <a:r>
              <a:rPr lang="en-GB" dirty="0"/>
              <a:t>Use historical trip data to anticipate demand shifts and adjust service levels accordingly</a:t>
            </a:r>
          </a:p>
        </p:txBody>
      </p:sp>
    </p:spTree>
    <p:extLst>
      <p:ext uri="{BB962C8B-B14F-4D97-AF65-F5344CB8AC3E}">
        <p14:creationId xmlns:p14="http://schemas.microsoft.com/office/powerpoint/2010/main" val="983908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D11ED-D7D2-01A6-98AE-BD60D863E930}"/>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Actionable Recommendations</a:t>
            </a:r>
            <a:endParaRPr lang="en-GB" dirty="0"/>
          </a:p>
        </p:txBody>
      </p:sp>
      <p:sp>
        <p:nvSpPr>
          <p:cNvPr id="3" name="Content Placeholder 2">
            <a:extLst>
              <a:ext uri="{FF2B5EF4-FFF2-40B4-BE49-F238E27FC236}">
                <a16:creationId xmlns:a16="http://schemas.microsoft.com/office/drawing/2014/main" id="{F6F4ABE6-760B-198F-1DB3-CA154A252A4C}"/>
              </a:ext>
            </a:extLst>
          </p:cNvPr>
          <p:cNvSpPr>
            <a:spLocks noGrp="1"/>
          </p:cNvSpPr>
          <p:nvPr>
            <p:ph idx="1"/>
          </p:nvPr>
        </p:nvSpPr>
        <p:spPr/>
        <p:txBody>
          <a:bodyPr>
            <a:normAutofit/>
          </a:bodyPr>
          <a:lstStyle/>
          <a:p>
            <a:pPr marL="0" indent="0">
              <a:buNone/>
            </a:pPr>
            <a:r>
              <a:rPr lang="en-GB" b="1" dirty="0"/>
              <a:t>2. Route Optimization</a:t>
            </a:r>
            <a:endParaRPr lang="en-GB" dirty="0"/>
          </a:p>
          <a:p>
            <a:r>
              <a:rPr lang="en-GB" dirty="0"/>
              <a:t>Investigate train operations on underperforming routes</a:t>
            </a:r>
          </a:p>
          <a:p>
            <a:r>
              <a:rPr lang="en-GB" dirty="0"/>
              <a:t>Deploy trains only on routes where they hold a genuine speed advantage</a:t>
            </a:r>
          </a:p>
          <a:p>
            <a:r>
              <a:rPr lang="en-GB" dirty="0"/>
              <a:t>Introduce express train services on routes where trains are currently slower than buses and trams to restore their expected speed advantage</a:t>
            </a:r>
          </a:p>
        </p:txBody>
      </p:sp>
    </p:spTree>
    <p:extLst>
      <p:ext uri="{BB962C8B-B14F-4D97-AF65-F5344CB8AC3E}">
        <p14:creationId xmlns:p14="http://schemas.microsoft.com/office/powerpoint/2010/main" val="3657159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62DE3-F1DD-0C95-D554-79A341508154}"/>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Actionable Recommendations</a:t>
            </a:r>
            <a:endParaRPr lang="en-GB" dirty="0"/>
          </a:p>
        </p:txBody>
      </p:sp>
      <p:sp>
        <p:nvSpPr>
          <p:cNvPr id="3" name="Content Placeholder 2">
            <a:extLst>
              <a:ext uri="{FF2B5EF4-FFF2-40B4-BE49-F238E27FC236}">
                <a16:creationId xmlns:a16="http://schemas.microsoft.com/office/drawing/2014/main" id="{5C1D9A32-CBF9-765A-5F81-79324E645D02}"/>
              </a:ext>
            </a:extLst>
          </p:cNvPr>
          <p:cNvSpPr>
            <a:spLocks noGrp="1"/>
          </p:cNvSpPr>
          <p:nvPr>
            <p:ph idx="1"/>
          </p:nvPr>
        </p:nvSpPr>
        <p:spPr/>
        <p:txBody>
          <a:bodyPr>
            <a:normAutofit/>
          </a:bodyPr>
          <a:lstStyle/>
          <a:p>
            <a:pPr marL="0" lvl="0" indent="0">
              <a:buNone/>
            </a:pPr>
            <a:r>
              <a:rPr lang="en-GB" dirty="0"/>
              <a:t>3. Pricing &amp; Demand</a:t>
            </a:r>
          </a:p>
          <a:p>
            <a:pPr lvl="0"/>
            <a:r>
              <a:rPr lang="en-GB" dirty="0"/>
              <a:t>Align fares with demand especially on  Thursdays with the lowest demand and highest revenue</a:t>
            </a:r>
          </a:p>
          <a:p>
            <a:pPr lvl="0"/>
            <a:r>
              <a:rPr lang="en-GB" dirty="0"/>
              <a:t>Implement targeted interventions at South Point e.g. discounted fares or loyalty rewards to stimulate usage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9799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3CE9-765E-7BBF-645E-4A543236F2EF}"/>
              </a:ext>
            </a:extLst>
          </p:cNvPr>
          <p:cNvSpPr>
            <a:spLocks noGrp="1"/>
          </p:cNvSpPr>
          <p:nvPr>
            <p:ph type="title"/>
          </p:nvPr>
        </p:nvSpPr>
        <p:spPr/>
        <p:txBody>
          <a:bodyPr/>
          <a:lstStyle/>
          <a:p>
            <a:r>
              <a:rPr lang="en-GB" dirty="0"/>
              <a:t>Limitations</a:t>
            </a:r>
          </a:p>
        </p:txBody>
      </p:sp>
      <p:sp>
        <p:nvSpPr>
          <p:cNvPr id="3" name="Content Placeholder 2">
            <a:extLst>
              <a:ext uri="{FF2B5EF4-FFF2-40B4-BE49-F238E27FC236}">
                <a16:creationId xmlns:a16="http://schemas.microsoft.com/office/drawing/2014/main" id="{6B85ECFF-B075-69DF-FC02-D0FFE48440A2}"/>
              </a:ext>
            </a:extLst>
          </p:cNvPr>
          <p:cNvSpPr>
            <a:spLocks noGrp="1"/>
          </p:cNvSpPr>
          <p:nvPr>
            <p:ph idx="1"/>
          </p:nvPr>
        </p:nvSpPr>
        <p:spPr/>
        <p:txBody>
          <a:bodyPr/>
          <a:lstStyle/>
          <a:p>
            <a:r>
              <a:rPr lang="en-GB" dirty="0"/>
              <a:t>Short time window (only 6 weeks), which may not capture seasonal demand patterns</a:t>
            </a:r>
          </a:p>
          <a:p>
            <a:r>
              <a:rPr lang="en-GB" dirty="0"/>
              <a:t>Small dataset (1,000 rows) limits the reliability of trends and generalizations across routes and modes</a:t>
            </a:r>
          </a:p>
          <a:p>
            <a:r>
              <a:rPr lang="en-GB" dirty="0"/>
              <a:t>No external variables e.g. factors like weather, public holidays, or service disruptions were not captured, which could explain some demand fluctuations</a:t>
            </a:r>
          </a:p>
          <a:p>
            <a:r>
              <a:rPr lang="en-GB" dirty="0"/>
              <a:t>No passenger demographics; analysis couldn't account for who is travelling (to target incentives more precisely e.g. student discounts, senior passes), limiting equity and targeting insights </a:t>
            </a:r>
          </a:p>
          <a:p>
            <a:endParaRPr lang="en-GB" dirty="0"/>
          </a:p>
        </p:txBody>
      </p:sp>
    </p:spTree>
    <p:extLst>
      <p:ext uri="{BB962C8B-B14F-4D97-AF65-F5344CB8AC3E}">
        <p14:creationId xmlns:p14="http://schemas.microsoft.com/office/powerpoint/2010/main" val="2371390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5880BC-4795-A706-9E5C-D49FA6B2EDCD}"/>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04DD225B-CF72-47F1-143E-9743A1B0FD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13582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TM16401375[[fn=Madison]]</Template>
  <TotalTime>2702</TotalTime>
  <Words>1248</Words>
  <Application>Microsoft Office PowerPoint</Application>
  <PresentationFormat>Widescreen</PresentationFormat>
  <Paragraphs>128</Paragraphs>
  <Slides>27</Slides>
  <Notes>14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Georgia</vt:lpstr>
      <vt:lpstr>Times New Roman</vt:lpstr>
      <vt:lpstr>Office Theme</vt:lpstr>
      <vt:lpstr>An Exploratory Data Analysis Report on Public Transit Operations: Insights for MetroMove Transit Solutions</vt:lpstr>
      <vt:lpstr>Introduction</vt:lpstr>
      <vt:lpstr>Problem Statement</vt:lpstr>
      <vt:lpstr>Objectives</vt:lpstr>
      <vt:lpstr>Data Description</vt:lpstr>
      <vt:lpstr>Methodology</vt:lpstr>
      <vt:lpstr>Methodology</vt:lpstr>
      <vt:lpstr>Results</vt:lpstr>
      <vt:lpstr>Results</vt:lpstr>
      <vt:lpstr>Result</vt:lpstr>
      <vt:lpstr>Result</vt:lpstr>
      <vt:lpstr>Result</vt:lpstr>
      <vt:lpstr>Results</vt:lpstr>
      <vt:lpstr>Results</vt:lpstr>
      <vt:lpstr>Results</vt:lpstr>
      <vt:lpstr>Results</vt:lpstr>
      <vt:lpstr>Results</vt:lpstr>
      <vt:lpstr>Results</vt:lpstr>
      <vt:lpstr>Results</vt:lpstr>
      <vt:lpstr>Results</vt:lpstr>
      <vt:lpstr>Results</vt:lpstr>
      <vt:lpstr>Result </vt:lpstr>
      <vt:lpstr>Actionable Recommendations</vt:lpstr>
      <vt:lpstr>Actionable Recommendations</vt:lpstr>
      <vt:lpstr>Actionable Recommendations</vt:lpstr>
      <vt:lpstr>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Kuroyefa Leghemo</dc:creator>
  <cp:lastModifiedBy>Kuroyefa Leghemo</cp:lastModifiedBy>
  <cp:revision>78</cp:revision>
  <dcterms:created xsi:type="dcterms:W3CDTF">2026-04-17T09:28:28Z</dcterms:created>
  <dcterms:modified xsi:type="dcterms:W3CDTF">2026-05-27T04:13:10Z</dcterms:modified>
</cp:coreProperties>
</file>